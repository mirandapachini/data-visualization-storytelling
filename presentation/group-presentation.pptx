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4"/>
  </p:sldMasterIdLst>
  <p:notesMasterIdLst>
    <p:notesMasterId r:id="rId18"/>
  </p:notesMasterIdLst>
  <p:handoutMasterIdLst>
    <p:handoutMasterId r:id="rId19"/>
  </p:handoutMasterIdLst>
  <p:sldIdLst>
    <p:sldId id="259" r:id="rId5"/>
    <p:sldId id="273" r:id="rId6"/>
    <p:sldId id="260" r:id="rId7"/>
    <p:sldId id="268" r:id="rId8"/>
    <p:sldId id="264" r:id="rId9"/>
    <p:sldId id="274" r:id="rId10"/>
    <p:sldId id="266" r:id="rId11"/>
    <p:sldId id="267" r:id="rId12"/>
    <p:sldId id="269" r:id="rId13"/>
    <p:sldId id="271" r:id="rId14"/>
    <p:sldId id="272" r:id="rId15"/>
    <p:sldId id="277" r:id="rId16"/>
    <p:sldId id="278" r:id="rId17"/>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orient="horz" pos="304" userDrawn="1">
          <p15:clr>
            <a:srgbClr val="A4A3A4"/>
          </p15:clr>
        </p15:guide>
        <p15:guide id="3" orient="horz" pos="4144" userDrawn="1">
          <p15:clr>
            <a:srgbClr val="A4A3A4"/>
          </p15:clr>
        </p15:guide>
        <p15:guide id="4" orient="horz" pos="3952" userDrawn="1">
          <p15:clr>
            <a:srgbClr val="A4A3A4"/>
          </p15:clr>
        </p15:guide>
        <p15:guide id="5" orient="horz" pos="1136" userDrawn="1">
          <p15:clr>
            <a:srgbClr val="A4A3A4"/>
          </p15:clr>
        </p15:guide>
        <p15:guide id="6" pos="3839" userDrawn="1">
          <p15:clr>
            <a:srgbClr val="A4A3A4"/>
          </p15:clr>
        </p15:guide>
        <p15:guide id="7" pos="191" userDrawn="1">
          <p15:clr>
            <a:srgbClr val="A4A3A4"/>
          </p15:clr>
        </p15:guide>
        <p15:guide id="8" pos="7486" userDrawn="1">
          <p15:clr>
            <a:srgbClr val="A4A3A4"/>
          </p15:clr>
        </p15:guide>
        <p15:guide id="9" pos="576" userDrawn="1">
          <p15:clr>
            <a:srgbClr val="A4A3A4"/>
          </p15:clr>
        </p15:guide>
        <p15:guide id="10" pos="710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F37F0C8-CEA3-988F-1942-A2F3DB02862F}" name="Collado Blanco, German" initials="CG" userId="S::g0coll05@louisville.edu::2fe928d7-2c14-4511-be71-01983e5fdc0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6735BC-5846-48CA-BEF0-2EBBD161ABA2}" v="815" dt="2026-02-04T21:51:11.575"/>
    <p1510:client id="{4CB68F0B-2E28-400B-B3E4-BA5CF601A204}" v="384" dt="2026-02-04T22:55:17.146"/>
    <p1510:client id="{4D6A384A-F1D3-32FE-CDF2-BDA28AB45D3E}" v="25" dt="2026-02-04T02:36:10.427"/>
    <p1510:client id="{5F20E015-8480-B6C1-5479-58313B4DB8D1}" v="136" dt="2026-02-04T22:50:20.266"/>
    <p1510:client id="{7AC40B70-AAFD-3885-0E65-57BF3DFBDC70}" v="2157" dt="2026-02-04T19:31:50.508"/>
    <p1510:client id="{887F805D-825D-5CD6-FBBD-49BFB583E899}" v="12" dt="2026-02-04T00:59:55.338"/>
    <p1510:client id="{D33DD15F-8A49-69F9-50CA-404C66402B46}" v="489" dt="2026-02-04T21:47:56.970"/>
  </p1510:revLst>
</p1510:revInfo>
</file>

<file path=ppt/tableStyles.xml><?xml version="1.0" encoding="utf-8"?>
<a:tblStyleLst xmlns:a="http://schemas.openxmlformats.org/drawingml/2006/main" def="{D03447BB-5D67-496B-8E87-E561075AD55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7" d="100"/>
          <a:sy n="67" d="100"/>
        </p:scale>
        <p:origin x="1029" y="573"/>
      </p:cViewPr>
      <p:guideLst>
        <p:guide orient="horz" pos="2160"/>
        <p:guide orient="horz" pos="304"/>
        <p:guide orient="horz" pos="4144"/>
        <p:guide orient="horz" pos="3952"/>
        <p:guide orient="horz" pos="1136"/>
        <p:guide pos="3839"/>
        <p:guide pos="191"/>
        <p:guide pos="7486"/>
        <p:guide pos="576"/>
        <p:guide pos="7102"/>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954C6E1-AF92-4FB7-A013-0B520EBC30AE}" type="datetimeFigureOut">
              <a:rPr lang="en-US"/>
              <a:t>2/4/2026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A52D9BF-D574-4807-B36C-9E2A025BE826}" type="slidenum">
              <a:rPr/>
              <a:t>‹#›</a:t>
            </a:fld>
            <a:endParaRPr/>
          </a:p>
        </p:txBody>
      </p:sp>
    </p:spTree>
    <p:extLst>
      <p:ext uri="{BB962C8B-B14F-4D97-AF65-F5344CB8AC3E}">
        <p14:creationId xmlns:p14="http://schemas.microsoft.com/office/powerpoint/2010/main" val="23067921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C10850-0874-4A61-99B4-D613C5E8D9EA}" type="datetimeFigureOut">
              <a:rPr lang="en-US"/>
              <a:t>2/4/2026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11EC53-F507-411E-9ADC-FBCFECE09D3D}" type="slidenum">
              <a:rPr/>
              <a:t>‹#›</a:t>
            </a:fld>
            <a:endParaRPr/>
          </a:p>
        </p:txBody>
      </p:sp>
    </p:spTree>
    <p:extLst>
      <p:ext uri="{BB962C8B-B14F-4D97-AF65-F5344CB8AC3E}">
        <p14:creationId xmlns:p14="http://schemas.microsoft.com/office/powerpoint/2010/main" val="758182631"/>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Student retention is one of the strongest predictors of institutional success … academically, financially, and reputationally.</a:t>
            </a:r>
            <a:br>
              <a:rPr lang="en-US"/>
            </a:br>
            <a:r>
              <a:rPr lang="en-US"/>
              <a:t>But retention challenges don’t affect all majors equally</a:t>
            </a:r>
          </a:p>
          <a:p>
            <a:r>
              <a:rPr lang="en-US"/>
              <a:t>Today we will show where UofL is losing the most first-year students, when those losses occur, and where targeted intervention would have the greatest impact</a:t>
            </a:r>
          </a:p>
        </p:txBody>
      </p:sp>
      <p:sp>
        <p:nvSpPr>
          <p:cNvPr id="4" name="Slide Number Placeholder 3"/>
          <p:cNvSpPr>
            <a:spLocks noGrp="1"/>
          </p:cNvSpPr>
          <p:nvPr>
            <p:ph type="sldNum" sz="quarter" idx="10"/>
          </p:nvPr>
        </p:nvSpPr>
        <p:spPr/>
        <p:txBody>
          <a:bodyPr/>
          <a:lstStyle/>
          <a:p>
            <a:fld id="{9E11EC53-F507-411E-9ADC-FBCFECE09D3D}" type="slidenum">
              <a:rPr lang="en-US" smtClean="0"/>
              <a:t>1</a:t>
            </a:fld>
            <a:endParaRPr lang="en-US"/>
          </a:p>
        </p:txBody>
      </p:sp>
    </p:spTree>
    <p:extLst>
      <p:ext uri="{BB962C8B-B14F-4D97-AF65-F5344CB8AC3E}">
        <p14:creationId xmlns:p14="http://schemas.microsoft.com/office/powerpoint/2010/main" val="2908644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latin typeface="Calibri"/>
                <a:ea typeface="Calibri"/>
                <a:cs typeface="Calibri"/>
              </a:rPr>
              <a:t>Carolineeeeeee</a:t>
            </a:r>
          </a:p>
          <a:p>
            <a:endParaRPr lang="en-US">
              <a:latin typeface="Calibri"/>
              <a:ea typeface="Calibri"/>
              <a:cs typeface="Calibri"/>
            </a:endParaRP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E11EC53-F507-411E-9ADC-FBCFECE09D3D}" type="slidenum">
              <a:rPr lang="en-US"/>
              <a:t>3</a:t>
            </a:fld>
            <a:endParaRPr lang="en-US"/>
          </a:p>
        </p:txBody>
      </p:sp>
    </p:spTree>
    <p:extLst>
      <p:ext uri="{BB962C8B-B14F-4D97-AF65-F5344CB8AC3E}">
        <p14:creationId xmlns:p14="http://schemas.microsoft.com/office/powerpoint/2010/main" val="645069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E11EC53-F507-411E-9ADC-FBCFECE09D3D}" type="slidenum">
              <a:rPr lang="en-US"/>
              <a:t>4</a:t>
            </a:fld>
            <a:endParaRPr lang="en-US"/>
          </a:p>
        </p:txBody>
      </p:sp>
    </p:spTree>
    <p:extLst>
      <p:ext uri="{BB962C8B-B14F-4D97-AF65-F5344CB8AC3E}">
        <p14:creationId xmlns:p14="http://schemas.microsoft.com/office/powerpoint/2010/main" val="3439327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cc</a:t>
            </a:r>
          </a:p>
        </p:txBody>
      </p:sp>
      <p:sp>
        <p:nvSpPr>
          <p:cNvPr id="4" name="Slide Number Placeholder 3"/>
          <p:cNvSpPr>
            <a:spLocks noGrp="1"/>
          </p:cNvSpPr>
          <p:nvPr>
            <p:ph type="sldNum" sz="quarter" idx="5"/>
          </p:nvPr>
        </p:nvSpPr>
        <p:spPr/>
        <p:txBody>
          <a:bodyPr/>
          <a:lstStyle/>
          <a:p>
            <a:fld id="{9E11EC53-F507-411E-9ADC-FBCFECE09D3D}" type="slidenum">
              <a:rPr lang="en-US"/>
              <a:t>5</a:t>
            </a:fld>
            <a:endParaRPr lang="en-US"/>
          </a:p>
        </p:txBody>
      </p:sp>
    </p:spTree>
    <p:extLst>
      <p:ext uri="{BB962C8B-B14F-4D97-AF65-F5344CB8AC3E}">
        <p14:creationId xmlns:p14="http://schemas.microsoft.com/office/powerpoint/2010/main" val="503007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mp</a:t>
            </a:r>
            <a:endParaRPr lang="en-US" dirty="0"/>
          </a:p>
        </p:txBody>
      </p:sp>
      <p:sp>
        <p:nvSpPr>
          <p:cNvPr id="4" name="Slide Number Placeholder 3"/>
          <p:cNvSpPr>
            <a:spLocks noGrp="1"/>
          </p:cNvSpPr>
          <p:nvPr>
            <p:ph type="sldNum" sz="quarter" idx="5"/>
          </p:nvPr>
        </p:nvSpPr>
        <p:spPr/>
        <p:txBody>
          <a:bodyPr/>
          <a:lstStyle/>
          <a:p>
            <a:fld id="{9E11EC53-F507-411E-9ADC-FBCFECE09D3D}" type="slidenum">
              <a:rPr lang="en-US" smtClean="0"/>
              <a:t>6</a:t>
            </a:fld>
            <a:endParaRPr lang="en-US"/>
          </a:p>
        </p:txBody>
      </p:sp>
    </p:spTree>
    <p:extLst>
      <p:ext uri="{BB962C8B-B14F-4D97-AF65-F5344CB8AC3E}">
        <p14:creationId xmlns:p14="http://schemas.microsoft.com/office/powerpoint/2010/main" val="2746021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cc</a:t>
            </a:r>
          </a:p>
        </p:txBody>
      </p:sp>
      <p:sp>
        <p:nvSpPr>
          <p:cNvPr id="4" name="Slide Number Placeholder 3"/>
          <p:cNvSpPr>
            <a:spLocks noGrp="1"/>
          </p:cNvSpPr>
          <p:nvPr>
            <p:ph type="sldNum" sz="quarter" idx="5"/>
          </p:nvPr>
        </p:nvSpPr>
        <p:spPr/>
        <p:txBody>
          <a:bodyPr/>
          <a:lstStyle/>
          <a:p>
            <a:fld id="{9E11EC53-F507-411E-9ADC-FBCFECE09D3D}" type="slidenum">
              <a:rPr lang="en-US"/>
              <a:t>7</a:t>
            </a:fld>
            <a:endParaRPr lang="en-US"/>
          </a:p>
        </p:txBody>
      </p:sp>
    </p:spTree>
    <p:extLst>
      <p:ext uri="{BB962C8B-B14F-4D97-AF65-F5344CB8AC3E}">
        <p14:creationId xmlns:p14="http://schemas.microsoft.com/office/powerpoint/2010/main" val="3701557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t>- This chart shows first-to-second year retention by entry major for the 2023 cohort. Each dot represents a major, the position of the dot shows retention rate, and the size of the dot reflects cohort size. The dashed line is the university average retention rate of 82.3%.</a:t>
            </a:r>
          </a:p>
          <a:p>
            <a:r>
              <a:rPr lang="en-US" b="0"/>
              <a:t>- What immediately stands out is that retention is not evenly distributed across entry majors. Some colleges are retaining students well above the university average, while others are losing a disproportionate share of students after just one year</a:t>
            </a:r>
          </a:p>
          <a:p>
            <a:r>
              <a:rPr lang="en-US" b="0"/>
              <a:t>- On the right side, we see colleges like Engineering, Business, Nursing, and Public Health performing at or above the university average. These majors not only retain students better, but they also tend to have clearer degree pathways and stronger early academic alignment</a:t>
            </a:r>
          </a:p>
          <a:p>
            <a:pPr marL="285750" indent="-285750">
              <a:buFontTx/>
              <a:buChar char="-"/>
            </a:pPr>
            <a:r>
              <a:rPr lang="en-US" b="0"/>
              <a:t>On the left side, colleges such as Arts &amp; Sciences, Education, and Social Work fall noticeably below the university average. </a:t>
            </a:r>
          </a:p>
          <a:p>
            <a:pPr marL="285750" indent="-285750">
              <a:buFontTx/>
              <a:buChar char="-"/>
            </a:pPr>
            <a:r>
              <a:rPr lang="en-US" b="0"/>
              <a:t>What stands out is the college of Arts and sciences, there is both a large cohort size and a </a:t>
            </a:r>
            <a:r>
              <a:rPr lang="en-US" b="0" err="1"/>
              <a:t>bolow</a:t>
            </a:r>
            <a:r>
              <a:rPr lang="en-US" b="0"/>
              <a:t> average retention rate. This means that there is a large number of students entering this major but also the students entering this major are much more likely to leave after their first year. Even a modest drop in retention translates into hundreds of students leaving the university over the next years, simply because so many students start there</a:t>
            </a:r>
          </a:p>
          <a:p>
            <a:pPr marL="0" indent="0">
              <a:buFontTx/>
              <a:buNone/>
            </a:pPr>
            <a:r>
              <a:rPr lang="en-US" b="0"/>
              <a:t>- So what this chart tells us  is </a:t>
            </a:r>
            <a:r>
              <a:rPr lang="en-US" b="0" i="1"/>
              <a:t>where</a:t>
            </a:r>
            <a:r>
              <a:rPr lang="en-US" b="0"/>
              <a:t> the problem begins:</a:t>
            </a:r>
            <a:br>
              <a:rPr lang="en-US" b="0"/>
            </a:br>
            <a:endParaRPr lang="en-US" b="0"/>
          </a:p>
        </p:txBody>
      </p:sp>
      <p:sp>
        <p:nvSpPr>
          <p:cNvPr id="4" name="Slide Number Placeholder 3"/>
          <p:cNvSpPr>
            <a:spLocks noGrp="1"/>
          </p:cNvSpPr>
          <p:nvPr>
            <p:ph type="sldNum" sz="quarter" idx="5"/>
          </p:nvPr>
        </p:nvSpPr>
        <p:spPr/>
        <p:txBody>
          <a:bodyPr/>
          <a:lstStyle/>
          <a:p>
            <a:fld id="{9E11EC53-F507-411E-9ADC-FBCFECE09D3D}" type="slidenum">
              <a:rPr lang="en-US" smtClean="0"/>
              <a:t>8</a:t>
            </a:fld>
            <a:endParaRPr lang="en-US"/>
          </a:p>
        </p:txBody>
      </p:sp>
    </p:spTree>
    <p:extLst>
      <p:ext uri="{BB962C8B-B14F-4D97-AF65-F5344CB8AC3E}">
        <p14:creationId xmlns:p14="http://schemas.microsoft.com/office/powerpoint/2010/main" val="10377283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Tx/>
              <a:buChar char="-"/>
            </a:pPr>
            <a:r>
              <a:rPr lang="en-US" b="0"/>
              <a:t>This chart builds on the previous one by showing when students are leaving. It displays the top five majors by attrition and separates losses that happen after Year to 2 from additional losses by Year 2 to 3</a:t>
            </a:r>
          </a:p>
          <a:p>
            <a:pPr marL="285750" indent="-285750">
              <a:buFontTx/>
              <a:buChar char="-"/>
            </a:pPr>
            <a:r>
              <a:rPr lang="en-US" b="0"/>
              <a:t>Across every major shown, the largest loss happens after the first year. In other words, Year 1 is the critical breaking point</a:t>
            </a:r>
          </a:p>
          <a:p>
            <a:pPr marL="285750" indent="-285750">
              <a:buFontTx/>
              <a:buChar char="-"/>
            </a:pPr>
            <a:r>
              <a:rPr lang="en-US" b="0"/>
              <a:t>Later students that leave still exists, but it’s significantly smaller compared to what happens right after students arrive</a:t>
            </a:r>
          </a:p>
          <a:p>
            <a:pPr marL="285750" indent="-285750">
              <a:buFontTx/>
              <a:buChar char="-"/>
            </a:pPr>
            <a:r>
              <a:rPr lang="en-US" b="0"/>
              <a:t>Arts &amp; Sciences stands out dramatically. On average, over 300 students are lost after the first year alone, compared to about 150 additional students over the next two years combined</a:t>
            </a:r>
          </a:p>
          <a:p>
            <a:pPr marL="285750" indent="-285750">
              <a:buFontTx/>
              <a:buChar char="-"/>
            </a:pPr>
            <a:r>
              <a:rPr lang="en-US" b="0"/>
              <a:t>Even in higher-retention colleges like Engineering or Business, we still see that most losses occur after Year 1, just at a smaller scale. This reinforces that the first year is universally important, regardless of major</a:t>
            </a:r>
          </a:p>
          <a:p>
            <a:pPr marL="285750" indent="-285750">
              <a:buFontTx/>
              <a:buChar char="-"/>
            </a:pPr>
            <a:r>
              <a:rPr lang="en-US" b="0"/>
              <a:t>Students aren’t gradually drifting away they’re making an early decision that the institution, the major, or the support structure isn’t the right fit</a:t>
            </a:r>
          </a:p>
        </p:txBody>
      </p:sp>
      <p:sp>
        <p:nvSpPr>
          <p:cNvPr id="4" name="Slide Number Placeholder 3"/>
          <p:cNvSpPr>
            <a:spLocks noGrp="1"/>
          </p:cNvSpPr>
          <p:nvPr>
            <p:ph type="sldNum" sz="quarter" idx="5"/>
          </p:nvPr>
        </p:nvSpPr>
        <p:spPr/>
        <p:txBody>
          <a:bodyPr/>
          <a:lstStyle/>
          <a:p>
            <a:fld id="{9E11EC53-F507-411E-9ADC-FBCFECE09D3D}" type="slidenum">
              <a:rPr lang="en-US" smtClean="0"/>
              <a:t>9</a:t>
            </a:fld>
            <a:endParaRPr lang="en-US"/>
          </a:p>
        </p:txBody>
      </p:sp>
    </p:spTree>
    <p:extLst>
      <p:ext uri="{BB962C8B-B14F-4D97-AF65-F5344CB8AC3E}">
        <p14:creationId xmlns:p14="http://schemas.microsoft.com/office/powerpoint/2010/main" val="23253370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number of students lost is very front heavy so a large portion of student engagement and advising budget should be used within the first year in order to keep these students from leaving the university</a:t>
            </a:r>
          </a:p>
          <a:p>
            <a:endParaRPr lang="en-US"/>
          </a:p>
          <a:p>
            <a:r>
              <a:rPr lang="en-US"/>
              <a:t>CC</a:t>
            </a:r>
          </a:p>
        </p:txBody>
      </p:sp>
      <p:sp>
        <p:nvSpPr>
          <p:cNvPr id="4" name="Slide Number Placeholder 3"/>
          <p:cNvSpPr>
            <a:spLocks noGrp="1"/>
          </p:cNvSpPr>
          <p:nvPr>
            <p:ph type="sldNum" sz="quarter" idx="5"/>
          </p:nvPr>
        </p:nvSpPr>
        <p:spPr/>
        <p:txBody>
          <a:bodyPr/>
          <a:lstStyle/>
          <a:p>
            <a:fld id="{9E11EC53-F507-411E-9ADC-FBCFECE09D3D}" type="slidenum">
              <a:rPr lang="en-US" smtClean="0"/>
              <a:t>10</a:t>
            </a:fld>
            <a:endParaRPr lang="en-US"/>
          </a:p>
        </p:txBody>
      </p:sp>
    </p:spTree>
    <p:extLst>
      <p:ext uri="{BB962C8B-B14F-4D97-AF65-F5344CB8AC3E}">
        <p14:creationId xmlns:p14="http://schemas.microsoft.com/office/powerpoint/2010/main" val="805380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Mp</a:t>
            </a:r>
            <a:r>
              <a:rPr lang="en-US" dirty="0"/>
              <a:t>: Can take some funding out of the better retention majors and allocate it to those that are below average retention with large cohorts. Could also help students of these larger cohorts change majors because from a monetary standpoint Kentucky doesn’t care about retention between each unit major but whether they leave the university because they would be missing out on tuition payments</a:t>
            </a:r>
          </a:p>
        </p:txBody>
      </p:sp>
      <p:sp>
        <p:nvSpPr>
          <p:cNvPr id="4" name="Slide Number Placeholder 3"/>
          <p:cNvSpPr>
            <a:spLocks noGrp="1"/>
          </p:cNvSpPr>
          <p:nvPr>
            <p:ph type="sldNum" sz="quarter" idx="5"/>
          </p:nvPr>
        </p:nvSpPr>
        <p:spPr/>
        <p:txBody>
          <a:bodyPr/>
          <a:lstStyle/>
          <a:p>
            <a:fld id="{9E11EC53-F507-411E-9ADC-FBCFECE09D3D}" type="slidenum">
              <a:rPr lang="en-US" smtClean="0"/>
              <a:t>11</a:t>
            </a:fld>
            <a:endParaRPr lang="en-US"/>
          </a:p>
        </p:txBody>
      </p:sp>
    </p:spTree>
    <p:extLst>
      <p:ext uri="{BB962C8B-B14F-4D97-AF65-F5344CB8AC3E}">
        <p14:creationId xmlns:p14="http://schemas.microsoft.com/office/powerpoint/2010/main" val="4292566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Mp</a:t>
            </a:r>
            <a:r>
              <a:rPr lang="en-US" dirty="0"/>
              <a:t>:</a:t>
            </a:r>
          </a:p>
        </p:txBody>
      </p:sp>
      <p:sp>
        <p:nvSpPr>
          <p:cNvPr id="4" name="Slide Number Placeholder 3"/>
          <p:cNvSpPr>
            <a:spLocks noGrp="1"/>
          </p:cNvSpPr>
          <p:nvPr>
            <p:ph type="sldNum" sz="quarter" idx="5"/>
          </p:nvPr>
        </p:nvSpPr>
        <p:spPr/>
        <p:txBody>
          <a:bodyPr/>
          <a:lstStyle/>
          <a:p>
            <a:fld id="{9E11EC53-F507-411E-9ADC-FBCFECE09D3D}" type="slidenum">
              <a:rPr lang="en-US" smtClean="0"/>
              <a:t>12</a:t>
            </a:fld>
            <a:endParaRPr lang="en-US"/>
          </a:p>
        </p:txBody>
      </p:sp>
    </p:spTree>
    <p:extLst>
      <p:ext uri="{BB962C8B-B14F-4D97-AF65-F5344CB8AC3E}">
        <p14:creationId xmlns:p14="http://schemas.microsoft.com/office/powerpoint/2010/main" val="7577969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mp</a:t>
            </a:r>
            <a:endParaRPr lang="en-US" dirty="0"/>
          </a:p>
        </p:txBody>
      </p:sp>
      <p:sp>
        <p:nvSpPr>
          <p:cNvPr id="4" name="Slide Number Placeholder 3"/>
          <p:cNvSpPr>
            <a:spLocks noGrp="1"/>
          </p:cNvSpPr>
          <p:nvPr>
            <p:ph type="sldNum" sz="quarter" idx="5"/>
          </p:nvPr>
        </p:nvSpPr>
        <p:spPr/>
        <p:txBody>
          <a:bodyPr/>
          <a:lstStyle/>
          <a:p>
            <a:fld id="{9E11EC53-F507-411E-9ADC-FBCFECE09D3D}" type="slidenum">
              <a:rPr lang="en-US" smtClean="0"/>
              <a:t>13</a:t>
            </a:fld>
            <a:endParaRPr lang="en-US"/>
          </a:p>
        </p:txBody>
      </p:sp>
    </p:spTree>
    <p:extLst>
      <p:ext uri="{BB962C8B-B14F-4D97-AF65-F5344CB8AC3E}">
        <p14:creationId xmlns:p14="http://schemas.microsoft.com/office/powerpoint/2010/main" val="29914607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68246" y="1828800"/>
            <a:ext cx="9220200" cy="2147926"/>
          </a:xfrm>
        </p:spPr>
        <p:txBody>
          <a:bodyPr anchor="ctr">
            <a:normAutofit/>
          </a:bodyPr>
          <a:lstStyle>
            <a:lvl1pPr algn="ctr">
              <a:defRPr sz="4400" cap="all" normalizeH="0" baseline="0"/>
            </a:lvl1pPr>
          </a:lstStyle>
          <a:p>
            <a:r>
              <a:rPr lang="en-US"/>
              <a:t>Click to edit Master title style</a:t>
            </a:r>
            <a:endParaRPr/>
          </a:p>
        </p:txBody>
      </p:sp>
      <p:sp>
        <p:nvSpPr>
          <p:cNvPr id="3" name="Subtitle 2"/>
          <p:cNvSpPr>
            <a:spLocks noGrp="1"/>
          </p:cNvSpPr>
          <p:nvPr>
            <p:ph type="subTitle" idx="1"/>
          </p:nvPr>
        </p:nvSpPr>
        <p:spPr>
          <a:xfrm>
            <a:off x="1468246" y="4063998"/>
            <a:ext cx="9220200" cy="1016000"/>
          </a:xfrm>
        </p:spPr>
        <p:txBody>
          <a:bodyPr>
            <a:normAutofit/>
          </a:bodyPr>
          <a:lstStyle>
            <a:lvl1pPr marL="0" indent="0" algn="ctr">
              <a:spcBef>
                <a:spcPts val="0"/>
              </a:spcBef>
              <a:buNone/>
              <a:defRPr sz="2800">
                <a:solidFill>
                  <a:schemeClr val="tx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2" indent="0" algn="ctr">
              <a:buNone/>
              <a:defRPr>
                <a:solidFill>
                  <a:schemeClr val="tx1">
                    <a:tint val="75000"/>
                  </a:schemeClr>
                </a:solidFill>
              </a:defRPr>
            </a:lvl5pPr>
            <a:lvl6pPr marL="3047466"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B9B9059-F1D6-41D0-95CF-D21CAA096B3A}" type="datetimeFigureOut">
              <a:rPr lang="en-US" smtClean="0"/>
              <a:pPr/>
              <a:t>2/4/2026</a:t>
            </a:fld>
            <a:endParaRPr lang="en-US"/>
          </a:p>
        </p:txBody>
      </p:sp>
      <p:sp>
        <p:nvSpPr>
          <p:cNvPr id="7" name="Slide Number Placeholder 6"/>
          <p:cNvSpPr>
            <a:spLocks noGrp="1"/>
          </p:cNvSpPr>
          <p:nvPr>
            <p:ph type="sldNum" sz="quarter" idx="12"/>
          </p:nvPr>
        </p:nvSpPr>
        <p:spPr/>
        <p:txBody>
          <a:bodyPr/>
          <a:lstStyle/>
          <a:p>
            <a:fld id="{E5FD5434-F838-4DD4-A17B-1CB1A1850DF4}" type="slidenum">
              <a:rPr lang="en-US" smtClean="0"/>
              <a:pPr/>
              <a:t>‹#›</a:t>
            </a:fld>
            <a:endParaRPr lang="en-US"/>
          </a:p>
        </p:txBody>
      </p:sp>
    </p:spTree>
    <p:extLst>
      <p:ext uri="{BB962C8B-B14F-4D97-AF65-F5344CB8AC3E}">
        <p14:creationId xmlns:p14="http://schemas.microsoft.com/office/powerpoint/2010/main" val="214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163" y="482600"/>
            <a:ext cx="10360501" cy="1219200"/>
          </a:xfrm>
        </p:spPr>
        <p:txBody>
          <a:bodyPr/>
          <a:lstStyle/>
          <a:p>
            <a:r>
              <a:rPr lang="en-US"/>
              <a:t>Click to edit Master title style</a:t>
            </a:r>
            <a:endParaRPr/>
          </a:p>
        </p:txBody>
      </p:sp>
      <p:sp>
        <p:nvSpPr>
          <p:cNvPr id="3" name="Content Placeholder 2"/>
          <p:cNvSpPr>
            <a:spLocks noGrp="1"/>
          </p:cNvSpPr>
          <p:nvPr>
            <p:ph idx="1"/>
          </p:nvPr>
        </p:nvSpPr>
        <p:spPr>
          <a:xfrm>
            <a:off x="914163" y="1803401"/>
            <a:ext cx="10360501" cy="4470400"/>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B9B9059-F1D6-41D0-95CF-D21CAA096B3A}" type="datetimeFigureOut">
              <a:rPr lang="en-US" smtClean="0"/>
              <a:t>2/4/2026</a:t>
            </a:fld>
            <a:endParaRPr lang="en-US"/>
          </a:p>
        </p:txBody>
      </p:sp>
      <p:sp>
        <p:nvSpPr>
          <p:cNvPr id="6" name="Slide Number Placeholder 5"/>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2264308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8883" y="1524002"/>
            <a:ext cx="9751060" cy="1992597"/>
          </a:xfrm>
        </p:spPr>
        <p:txBody>
          <a:bodyPr anchor="b" anchorCtr="0">
            <a:noAutofit/>
          </a:bodyPr>
          <a:lstStyle>
            <a:lvl1pPr algn="ctr">
              <a:defRPr sz="4400" b="0" cap="all" baseline="0"/>
            </a:lvl1pPr>
          </a:lstStyle>
          <a:p>
            <a:r>
              <a:rPr lang="en-US"/>
              <a:t>Click to edit Master title style</a:t>
            </a:r>
            <a:endParaRPr/>
          </a:p>
        </p:txBody>
      </p:sp>
      <p:sp>
        <p:nvSpPr>
          <p:cNvPr id="3" name="Text Placeholder 2"/>
          <p:cNvSpPr>
            <a:spLocks noGrp="1"/>
          </p:cNvSpPr>
          <p:nvPr>
            <p:ph type="body" idx="1"/>
          </p:nvPr>
        </p:nvSpPr>
        <p:spPr>
          <a:xfrm>
            <a:off x="1218883" y="3632200"/>
            <a:ext cx="9751060" cy="1016000"/>
          </a:xfrm>
        </p:spPr>
        <p:txBody>
          <a:bodyPr anchor="t" anchorCtr="0">
            <a:noAutofit/>
          </a:bodyPr>
          <a:lstStyle>
            <a:lvl1pPr marL="0" indent="0" algn="ctr">
              <a:spcBef>
                <a:spcPts val="0"/>
              </a:spcBef>
              <a:buNone/>
              <a:defRPr sz="2800">
                <a:solidFill>
                  <a:schemeClr val="tx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2" indent="0">
              <a:buNone/>
              <a:defRPr sz="1900">
                <a:solidFill>
                  <a:schemeClr val="tx1">
                    <a:tint val="75000"/>
                  </a:schemeClr>
                </a:solidFill>
              </a:defRPr>
            </a:lvl5pPr>
            <a:lvl6pPr marL="3047466"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B9B9059-F1D6-41D0-95CF-D21CAA096B3A}" type="datetimeFigureOut">
              <a:rPr lang="en-US" smtClean="0"/>
              <a:t>2/4/2026</a:t>
            </a:fld>
            <a:endParaRPr lang="en-US"/>
          </a:p>
        </p:txBody>
      </p:sp>
      <p:sp>
        <p:nvSpPr>
          <p:cNvPr id="6" name="Slide Number Placeholder 5"/>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3638904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4163" y="482600"/>
            <a:ext cx="10360501" cy="1219200"/>
          </a:xfrm>
        </p:spPr>
        <p:txBody>
          <a:bodyPr/>
          <a:lstStyle/>
          <a:p>
            <a:r>
              <a:rPr lang="en-US"/>
              <a:t>Click to edit Master title style</a:t>
            </a:r>
            <a:endParaRPr/>
          </a:p>
        </p:txBody>
      </p:sp>
      <p:sp>
        <p:nvSpPr>
          <p:cNvPr id="3" name="Content Placeholder 2"/>
          <p:cNvSpPr>
            <a:spLocks noGrp="1"/>
          </p:cNvSpPr>
          <p:nvPr>
            <p:ph sz="half" idx="1"/>
          </p:nvPr>
        </p:nvSpPr>
        <p:spPr>
          <a:xfrm>
            <a:off x="914162" y="1803401"/>
            <a:ext cx="4977104" cy="4470400"/>
          </a:xfrm>
        </p:spPr>
        <p:txBody>
          <a:bodyPr>
            <a:normAutofit/>
          </a:bodyPr>
          <a:lstStyle>
            <a:lvl1pPr>
              <a:defRPr sz="2400"/>
            </a:lvl1pPr>
            <a:lvl2pPr>
              <a:defRPr sz="2000"/>
            </a:lvl2pPr>
            <a:lvl3pPr>
              <a:defRPr sz="1800"/>
            </a:lvl3pPr>
            <a:lvl4pPr>
              <a:defRPr sz="1600"/>
            </a:lvl4pPr>
            <a:lvl5pPr>
              <a:defRPr sz="1400"/>
            </a:lvl5pPr>
            <a:lvl6pPr>
              <a:defRPr sz="1400"/>
            </a:lvl6pPr>
            <a:lvl7pPr marL="2669581">
              <a:defRPr sz="1400"/>
            </a:lvl7pPr>
            <a:lvl8pPr marL="2669581">
              <a:defRPr sz="1400"/>
            </a:lvl8pPr>
            <a:lvl9pPr marL="2669581">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97559" y="1803401"/>
            <a:ext cx="4977104" cy="4470400"/>
          </a:xfrm>
        </p:spPr>
        <p:txBody>
          <a:bodyPr>
            <a:normAutofit/>
          </a:bodyPr>
          <a:lstStyle>
            <a:lvl1pPr>
              <a:defRPr sz="2400"/>
            </a:lvl1pPr>
            <a:lvl2pPr>
              <a:defRPr sz="2000"/>
            </a:lvl2pPr>
            <a:lvl3pPr>
              <a:defRPr sz="1800"/>
            </a:lvl3pPr>
            <a:lvl4pPr>
              <a:defRPr sz="1600"/>
            </a:lvl4pPr>
            <a:lvl5pPr>
              <a:defRPr sz="1400"/>
            </a:lvl5pPr>
            <a:lvl6pPr marL="2669581">
              <a:defRPr sz="1400" baseline="0"/>
            </a:lvl6pPr>
            <a:lvl7pPr marL="2669581">
              <a:defRPr sz="1400" baseline="0"/>
            </a:lvl7pPr>
            <a:lvl8pPr marL="2669581">
              <a:defRPr sz="1400" baseline="0"/>
            </a:lvl8pPr>
            <a:lvl9pPr marL="2669581">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B9B9059-F1D6-41D0-95CF-D21CAA096B3A}" type="datetimeFigureOut">
              <a:rPr lang="en-US" smtClean="0"/>
              <a:t>2/4/2026</a:t>
            </a:fld>
            <a:endParaRPr lang="en-US"/>
          </a:p>
        </p:txBody>
      </p:sp>
      <p:sp>
        <p:nvSpPr>
          <p:cNvPr id="7" name="Slide Number Placeholder 6"/>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14065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163" y="482600"/>
            <a:ext cx="10360501" cy="12192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914162" y="1803400"/>
            <a:ext cx="4977104" cy="914400"/>
          </a:xfrm>
        </p:spPr>
        <p:txBody>
          <a:bodyPr anchor="ctr">
            <a:noAutofit/>
          </a:bodyPr>
          <a:lstStyle>
            <a:lvl1pPr marL="0" indent="0">
              <a:lnSpc>
                <a:spcPct val="80000"/>
              </a:lnSpc>
              <a:spcBef>
                <a:spcPts val="0"/>
              </a:spcBef>
              <a:buNone/>
              <a:defRPr sz="2800" b="0">
                <a:solidFill>
                  <a:schemeClr val="tx1"/>
                </a:solidFill>
              </a:defRPr>
            </a:lvl1pPr>
            <a:lvl2pPr marL="609493" indent="0">
              <a:buNone/>
              <a:defRPr sz="2700" b="1"/>
            </a:lvl2pPr>
            <a:lvl3pPr marL="1218987" indent="0">
              <a:buNone/>
              <a:defRPr sz="2400" b="1"/>
            </a:lvl3pPr>
            <a:lvl4pPr marL="1828480" indent="0">
              <a:buNone/>
              <a:defRPr sz="2100" b="1"/>
            </a:lvl4pPr>
            <a:lvl5pPr marL="2437972" indent="0">
              <a:buNone/>
              <a:defRPr sz="2100" b="1"/>
            </a:lvl5pPr>
            <a:lvl6pPr marL="3047466"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914162" y="2717800"/>
            <a:ext cx="4977104" cy="3556000"/>
          </a:xfrm>
        </p:spPr>
        <p:txBody>
          <a:bodyPr>
            <a:normAutofit/>
          </a:bodyPr>
          <a:lstStyle>
            <a:lvl1pPr>
              <a:defRPr sz="2400"/>
            </a:lvl1pPr>
            <a:lvl2pPr>
              <a:defRPr sz="2000"/>
            </a:lvl2pPr>
            <a:lvl3pPr>
              <a:defRPr sz="1800"/>
            </a:lvl3pPr>
            <a:lvl4pPr>
              <a:defRPr sz="1600"/>
            </a:lvl4pPr>
            <a:lvl5pPr>
              <a:defRPr sz="1400"/>
            </a:lvl5pPr>
            <a:lvl6pPr marL="2669581">
              <a:defRPr sz="1400"/>
            </a:lvl6pPr>
            <a:lvl7pPr marL="2669581">
              <a:defRPr sz="1400"/>
            </a:lvl7pPr>
            <a:lvl8pPr marL="2669581">
              <a:defRPr sz="1400"/>
            </a:lvl8pPr>
            <a:lvl9pPr marL="2669581">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97559" y="1803400"/>
            <a:ext cx="4977104" cy="914400"/>
          </a:xfrm>
        </p:spPr>
        <p:txBody>
          <a:bodyPr anchor="ctr">
            <a:noAutofit/>
          </a:bodyPr>
          <a:lstStyle>
            <a:lvl1pPr marL="0" indent="0">
              <a:lnSpc>
                <a:spcPct val="80000"/>
              </a:lnSpc>
              <a:spcBef>
                <a:spcPts val="0"/>
              </a:spcBef>
              <a:buNone/>
              <a:defRPr sz="2800" b="0">
                <a:solidFill>
                  <a:schemeClr val="tx1"/>
                </a:solidFill>
              </a:defRPr>
            </a:lvl1pPr>
            <a:lvl2pPr marL="609493" indent="0">
              <a:buNone/>
              <a:defRPr sz="2700" b="1"/>
            </a:lvl2pPr>
            <a:lvl3pPr marL="1218987" indent="0">
              <a:buNone/>
              <a:defRPr sz="2400" b="1"/>
            </a:lvl3pPr>
            <a:lvl4pPr marL="1828480" indent="0">
              <a:buNone/>
              <a:defRPr sz="2100" b="1"/>
            </a:lvl4pPr>
            <a:lvl5pPr marL="2437972" indent="0">
              <a:buNone/>
              <a:defRPr sz="2100" b="1"/>
            </a:lvl5pPr>
            <a:lvl6pPr marL="3047466"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297559" y="2717800"/>
            <a:ext cx="4977104" cy="3556000"/>
          </a:xfrm>
        </p:spPr>
        <p:txBody>
          <a:bodyPr>
            <a:normAutofit/>
          </a:bodyPr>
          <a:lstStyle>
            <a:lvl1pPr>
              <a:defRPr sz="2400"/>
            </a:lvl1pPr>
            <a:lvl2pPr>
              <a:defRPr sz="2000"/>
            </a:lvl2pPr>
            <a:lvl3pPr>
              <a:defRPr sz="1800"/>
            </a:lvl3pPr>
            <a:lvl4pPr>
              <a:defRPr sz="1600"/>
            </a:lvl4pPr>
            <a:lvl5pPr>
              <a:defRPr sz="1400"/>
            </a:lvl5pPr>
            <a:lvl6pPr marL="2669581">
              <a:defRPr sz="1400"/>
            </a:lvl6pPr>
            <a:lvl7pPr marL="2669581">
              <a:defRPr sz="1400"/>
            </a:lvl7pPr>
            <a:lvl8pPr marL="2669581">
              <a:defRPr sz="1400" baseline="0"/>
            </a:lvl8pPr>
            <a:lvl9pPr marL="2669581">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3B9B9059-F1D6-41D0-95CF-D21CAA096B3A}" type="datetimeFigureOut">
              <a:rPr lang="en-US" smtClean="0"/>
              <a:t>2/4/2026</a:t>
            </a:fld>
            <a:endParaRPr lang="en-US"/>
          </a:p>
        </p:txBody>
      </p:sp>
      <p:sp>
        <p:nvSpPr>
          <p:cNvPr id="9" name="Slide Number Placeholder 8"/>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3561680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163" y="482600"/>
            <a:ext cx="10360501" cy="1219200"/>
          </a:xfrm>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3B9B9059-F1D6-41D0-95CF-D21CAA096B3A}" type="datetimeFigureOut">
              <a:rPr lang="en-US" smtClean="0"/>
              <a:t>2/4/2026</a:t>
            </a:fld>
            <a:endParaRPr lang="en-US"/>
          </a:p>
        </p:txBody>
      </p:sp>
      <p:sp>
        <p:nvSpPr>
          <p:cNvPr id="5" name="Slide Number Placeholder 4"/>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2469684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3B9B9059-F1D6-41D0-95CF-D21CAA096B3A}" type="datetimeFigureOut">
              <a:rPr lang="en-US" smtClean="0"/>
              <a:pPr/>
              <a:t>2/4/2026</a:t>
            </a:fld>
            <a:endParaRPr lang="en-US"/>
          </a:p>
        </p:txBody>
      </p:sp>
      <p:sp>
        <p:nvSpPr>
          <p:cNvPr id="4" name="Slide Number Placeholder 3"/>
          <p:cNvSpPr>
            <a:spLocks noGrp="1"/>
          </p:cNvSpPr>
          <p:nvPr>
            <p:ph type="sldNum" sz="quarter" idx="12"/>
          </p:nvPr>
        </p:nvSpPr>
        <p:spPr/>
        <p:txBody>
          <a:bodyPr/>
          <a:lstStyle/>
          <a:p>
            <a:fld id="{E5FD5434-F838-4DD4-A17B-1CB1A1850DF4}" type="slidenum">
              <a:rPr lang="en-US" smtClean="0"/>
              <a:pPr/>
              <a:t>‹#›</a:t>
            </a:fld>
            <a:endParaRPr lang="en-US"/>
          </a:p>
        </p:txBody>
      </p:sp>
    </p:spTree>
    <p:extLst>
      <p:ext uri="{BB962C8B-B14F-4D97-AF65-F5344CB8AC3E}">
        <p14:creationId xmlns:p14="http://schemas.microsoft.com/office/powerpoint/2010/main" val="1880342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21163" y="482600"/>
            <a:ext cx="3961368" cy="1422400"/>
          </a:xfrm>
        </p:spPr>
        <p:txBody>
          <a:bodyPr anchor="b">
            <a:noAutofit/>
          </a:bodyPr>
          <a:lstStyle>
            <a:lvl1pPr algn="l">
              <a:defRPr sz="3200" b="0"/>
            </a:lvl1pPr>
          </a:lstStyle>
          <a:p>
            <a:r>
              <a:rPr lang="en-US"/>
              <a:t>Click to edit Master title style</a:t>
            </a:r>
            <a:endParaRPr/>
          </a:p>
        </p:txBody>
      </p:sp>
      <p:sp>
        <p:nvSpPr>
          <p:cNvPr id="20" name="Rectangle 19"/>
          <p:cNvSpPr/>
          <p:nvPr/>
        </p:nvSpPr>
        <p:spPr>
          <a:xfrm>
            <a:off x="0" y="-1115"/>
            <a:ext cx="7618016"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sz="2400"/>
          </a:p>
        </p:txBody>
      </p:sp>
      <p:sp>
        <p:nvSpPr>
          <p:cNvPr id="3" name="Content Placeholder 2"/>
          <p:cNvSpPr>
            <a:spLocks noGrp="1"/>
          </p:cNvSpPr>
          <p:nvPr>
            <p:ph idx="1"/>
          </p:nvPr>
        </p:nvSpPr>
        <p:spPr bwMode="white">
          <a:xfrm>
            <a:off x="507868" y="482602"/>
            <a:ext cx="6602280" cy="5842001"/>
          </a:xfrm>
        </p:spPr>
        <p:txBody>
          <a:bodyPr>
            <a:norm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821163" y="2108200"/>
            <a:ext cx="3961368" cy="4267200"/>
          </a:xfrm>
        </p:spPr>
        <p:txBody>
          <a:bodyPr anchor="t" anchorCtr="0">
            <a:normAutofit/>
          </a:bodyPr>
          <a:lstStyle>
            <a:lvl1pPr marL="0" indent="0">
              <a:spcBef>
                <a:spcPts val="1600"/>
              </a:spcBef>
              <a:buNone/>
              <a:defRPr sz="2000">
                <a:solidFill>
                  <a:schemeClr val="tx1"/>
                </a:solidFill>
              </a:defRPr>
            </a:lvl1pPr>
            <a:lvl2pPr marL="609493" indent="0">
              <a:buNone/>
              <a:defRPr sz="1600"/>
            </a:lvl2pPr>
            <a:lvl3pPr marL="1218987" indent="0">
              <a:buNone/>
              <a:defRPr sz="1300"/>
            </a:lvl3pPr>
            <a:lvl4pPr marL="1828480" indent="0">
              <a:buNone/>
              <a:defRPr sz="1200"/>
            </a:lvl4pPr>
            <a:lvl5pPr marL="2437972" indent="0">
              <a:buNone/>
              <a:defRPr sz="1200"/>
            </a:lvl5pPr>
            <a:lvl6pPr marL="3047466"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B9B9059-F1D6-41D0-95CF-D21CAA096B3A}" type="datetimeFigureOut">
              <a:rPr lang="en-US" smtClean="0"/>
              <a:pPr/>
              <a:t>2/4/2026</a:t>
            </a:fld>
            <a:endParaRPr lang="en-US"/>
          </a:p>
        </p:txBody>
      </p:sp>
      <p:sp>
        <p:nvSpPr>
          <p:cNvPr id="7" name="Slide Number Placeholder 6"/>
          <p:cNvSpPr>
            <a:spLocks noGrp="1"/>
          </p:cNvSpPr>
          <p:nvPr>
            <p:ph type="sldNum" sz="quarter" idx="12"/>
          </p:nvPr>
        </p:nvSpPr>
        <p:spPr/>
        <p:txBody>
          <a:bodyPr/>
          <a:lstStyle/>
          <a:p>
            <a:fld id="{E5FD5434-F838-4DD4-A17B-1CB1A1850DF4}" type="slidenum">
              <a:rPr lang="en-US" smtClean="0"/>
              <a:pPr/>
              <a:t>‹#›</a:t>
            </a:fld>
            <a:endParaRPr lang="en-US"/>
          </a:p>
        </p:txBody>
      </p:sp>
    </p:spTree>
    <p:extLst>
      <p:ext uri="{BB962C8B-B14F-4D97-AF65-F5344CB8AC3E}">
        <p14:creationId xmlns:p14="http://schemas.microsoft.com/office/powerpoint/2010/main" val="2768311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99134" y="1905000"/>
            <a:ext cx="5180251" cy="1727200"/>
          </a:xfrm>
        </p:spPr>
        <p:txBody>
          <a:bodyPr anchor="b" anchorCtr="0">
            <a:normAutofit/>
          </a:bodyPr>
          <a:lstStyle>
            <a:lvl1pPr algn="l">
              <a:defRPr sz="3200" b="0"/>
            </a:lvl1pPr>
          </a:lstStyle>
          <a:p>
            <a:r>
              <a:rPr lang="en-US"/>
              <a:t>Click to edit Master title style</a:t>
            </a:r>
            <a:endParaRPr/>
          </a:p>
        </p:txBody>
      </p:sp>
      <p:sp>
        <p:nvSpPr>
          <p:cNvPr id="9" name="Rectangle 8"/>
          <p:cNvSpPr/>
          <p:nvPr/>
        </p:nvSpPr>
        <p:spPr>
          <a:xfrm>
            <a:off x="0" y="-1115"/>
            <a:ext cx="6093594"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sz="2400"/>
          </a:p>
        </p:txBody>
      </p:sp>
      <p:sp>
        <p:nvSpPr>
          <p:cNvPr id="3" name="Picture Placeholder 2" descr="An empty placeholder to add an image. Click on the placeholder and select the image that you wish to add."/>
          <p:cNvSpPr>
            <a:spLocks noGrp="1"/>
          </p:cNvSpPr>
          <p:nvPr>
            <p:ph type="pic" idx="1"/>
          </p:nvPr>
        </p:nvSpPr>
        <p:spPr>
          <a:xfrm>
            <a:off x="507870" y="482601"/>
            <a:ext cx="5077859" cy="5862706"/>
          </a:xfrm>
          <a:noFill/>
          <a:ln w="9525">
            <a:noFill/>
            <a:miter lim="800000"/>
          </a:ln>
          <a:effectLst/>
        </p:spPr>
        <p:txBody>
          <a:bodyPr>
            <a:normAutofit/>
          </a:bodyPr>
          <a:lstStyle>
            <a:lvl1pPr marL="0" indent="0" algn="ctr">
              <a:buNone/>
              <a:defRPr sz="2700"/>
            </a:lvl1pPr>
            <a:lvl2pPr marL="609493" indent="0">
              <a:buNone/>
              <a:defRPr sz="3700"/>
            </a:lvl2pPr>
            <a:lvl3pPr marL="1218987" indent="0">
              <a:buNone/>
              <a:defRPr sz="3200"/>
            </a:lvl3pPr>
            <a:lvl4pPr marL="1828480" indent="0">
              <a:buNone/>
              <a:defRPr sz="2700"/>
            </a:lvl4pPr>
            <a:lvl5pPr marL="2437972" indent="0">
              <a:buNone/>
              <a:defRPr sz="2700"/>
            </a:lvl5pPr>
            <a:lvl6pPr marL="3047466"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6399134" y="3733800"/>
            <a:ext cx="5180251" cy="1727200"/>
          </a:xfrm>
        </p:spPr>
        <p:txBody>
          <a:bodyPr>
            <a:normAutofit/>
          </a:bodyPr>
          <a:lstStyle>
            <a:lvl1pPr marL="0" indent="0">
              <a:spcBef>
                <a:spcPts val="1600"/>
              </a:spcBef>
              <a:buNone/>
              <a:defRPr sz="2000">
                <a:solidFill>
                  <a:schemeClr val="tx1"/>
                </a:solidFill>
              </a:defRPr>
            </a:lvl1pPr>
            <a:lvl2pPr marL="609493" indent="0">
              <a:buNone/>
              <a:defRPr sz="1600"/>
            </a:lvl2pPr>
            <a:lvl3pPr marL="1218987" indent="0">
              <a:buNone/>
              <a:defRPr sz="1300"/>
            </a:lvl3pPr>
            <a:lvl4pPr marL="1828480" indent="0">
              <a:buNone/>
              <a:defRPr sz="1200"/>
            </a:lvl4pPr>
            <a:lvl5pPr marL="2437972" indent="0">
              <a:buNone/>
              <a:defRPr sz="1200"/>
            </a:lvl5pPr>
            <a:lvl6pPr marL="3047466"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B9B9059-F1D6-41D0-95CF-D21CAA096B3A}" type="datetimeFigureOut">
              <a:rPr lang="en-US" smtClean="0"/>
              <a:pPr/>
              <a:t>2/4/2026</a:t>
            </a:fld>
            <a:endParaRPr lang="en-US"/>
          </a:p>
        </p:txBody>
      </p:sp>
      <p:sp>
        <p:nvSpPr>
          <p:cNvPr id="7" name="Slide Number Placeholder 6"/>
          <p:cNvSpPr>
            <a:spLocks noGrp="1"/>
          </p:cNvSpPr>
          <p:nvPr>
            <p:ph type="sldNum" sz="quarter" idx="12"/>
          </p:nvPr>
        </p:nvSpPr>
        <p:spPr/>
        <p:txBody>
          <a:bodyPr/>
          <a:lstStyle/>
          <a:p>
            <a:fld id="{E5FD5434-F838-4DD4-A17B-1CB1A1850DF4}" type="slidenum">
              <a:rPr lang="en-US" smtClean="0"/>
              <a:pPr/>
              <a:t>‹#›</a:t>
            </a:fld>
            <a:endParaRPr lang="en-US"/>
          </a:p>
        </p:txBody>
      </p:sp>
    </p:spTree>
    <p:extLst>
      <p:ext uri="{BB962C8B-B14F-4D97-AF65-F5344CB8AC3E}">
        <p14:creationId xmlns:p14="http://schemas.microsoft.com/office/powerpoint/2010/main" val="448990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Alternate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21163" y="482600"/>
            <a:ext cx="3961368" cy="1422400"/>
          </a:xfrm>
        </p:spPr>
        <p:txBody>
          <a:bodyPr anchor="b" anchorCtr="0">
            <a:normAutofit/>
          </a:bodyPr>
          <a:lstStyle>
            <a:lvl1pPr algn="l">
              <a:defRPr sz="3200" b="0"/>
            </a:lvl1pPr>
          </a:lstStyle>
          <a:p>
            <a:r>
              <a:rPr lang="en-US"/>
              <a:t>Click to edit Master title style</a:t>
            </a:r>
            <a:endParaRPr/>
          </a:p>
        </p:txBody>
      </p:sp>
      <p:sp>
        <p:nvSpPr>
          <p:cNvPr id="9" name="Rectangle 8"/>
          <p:cNvSpPr/>
          <p:nvPr/>
        </p:nvSpPr>
        <p:spPr>
          <a:xfrm>
            <a:off x="0" y="-1115"/>
            <a:ext cx="7618016"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sz="2400"/>
          </a:p>
        </p:txBody>
      </p:sp>
      <p:sp>
        <p:nvSpPr>
          <p:cNvPr id="3" name="Picture Placeholder 2" descr="An empty placeholder to add an image. Click on the placeholder and select the image that you wish to add."/>
          <p:cNvSpPr>
            <a:spLocks noGrp="1"/>
          </p:cNvSpPr>
          <p:nvPr>
            <p:ph type="pic" idx="1"/>
          </p:nvPr>
        </p:nvSpPr>
        <p:spPr>
          <a:xfrm>
            <a:off x="507869" y="482602"/>
            <a:ext cx="6602281" cy="5842001"/>
          </a:xfrm>
          <a:noFill/>
          <a:ln w="9525">
            <a:noFill/>
            <a:miter lim="800000"/>
          </a:ln>
          <a:effectLst/>
        </p:spPr>
        <p:txBody>
          <a:bodyPr>
            <a:normAutofit/>
          </a:bodyPr>
          <a:lstStyle>
            <a:lvl1pPr marL="0" indent="0" algn="ctr">
              <a:buNone/>
              <a:defRPr sz="2700"/>
            </a:lvl1pPr>
            <a:lvl2pPr marL="609493" indent="0">
              <a:buNone/>
              <a:defRPr sz="3700"/>
            </a:lvl2pPr>
            <a:lvl3pPr marL="1218987" indent="0">
              <a:buNone/>
              <a:defRPr sz="3200"/>
            </a:lvl3pPr>
            <a:lvl4pPr marL="1828480" indent="0">
              <a:buNone/>
              <a:defRPr sz="2700"/>
            </a:lvl4pPr>
            <a:lvl5pPr marL="2437972" indent="0">
              <a:buNone/>
              <a:defRPr sz="2700"/>
            </a:lvl5pPr>
            <a:lvl6pPr marL="3047466"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7821163" y="2108200"/>
            <a:ext cx="3961368" cy="4267200"/>
          </a:xfrm>
        </p:spPr>
        <p:txBody>
          <a:bodyPr>
            <a:normAutofit/>
          </a:bodyPr>
          <a:lstStyle>
            <a:lvl1pPr marL="0" indent="0">
              <a:spcBef>
                <a:spcPts val="1600"/>
              </a:spcBef>
              <a:buNone/>
              <a:defRPr sz="2000">
                <a:solidFill>
                  <a:schemeClr val="tx1"/>
                </a:solidFill>
              </a:defRPr>
            </a:lvl1pPr>
            <a:lvl2pPr marL="609493" indent="0">
              <a:buNone/>
              <a:defRPr sz="1600"/>
            </a:lvl2pPr>
            <a:lvl3pPr marL="1218987" indent="0">
              <a:buNone/>
              <a:defRPr sz="1300"/>
            </a:lvl3pPr>
            <a:lvl4pPr marL="1828480" indent="0">
              <a:buNone/>
              <a:defRPr sz="1200"/>
            </a:lvl4pPr>
            <a:lvl5pPr marL="2437972" indent="0">
              <a:buNone/>
              <a:defRPr sz="1200"/>
            </a:lvl5pPr>
            <a:lvl6pPr marL="3047466"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B9B9059-F1D6-41D0-95CF-D21CAA096B3A}" type="datetimeFigureOut">
              <a:rPr lang="en-US" smtClean="0"/>
              <a:pPr/>
              <a:t>2/4/2026</a:t>
            </a:fld>
            <a:endParaRPr lang="en-US"/>
          </a:p>
        </p:txBody>
      </p:sp>
      <p:sp>
        <p:nvSpPr>
          <p:cNvPr id="7" name="Slide Number Placeholder 6"/>
          <p:cNvSpPr>
            <a:spLocks noGrp="1"/>
          </p:cNvSpPr>
          <p:nvPr>
            <p:ph type="sldNum" sz="quarter" idx="12"/>
          </p:nvPr>
        </p:nvSpPr>
        <p:spPr/>
        <p:txBody>
          <a:bodyPr/>
          <a:lstStyle/>
          <a:p>
            <a:fld id="{E5FD5434-F838-4DD4-A17B-1CB1A1850DF4}" type="slidenum">
              <a:rPr lang="en-US" smtClean="0"/>
              <a:pPr/>
              <a:t>‹#›</a:t>
            </a:fld>
            <a:endParaRPr lang="en-US"/>
          </a:p>
        </p:txBody>
      </p:sp>
    </p:spTree>
    <p:extLst>
      <p:ext uri="{BB962C8B-B14F-4D97-AF65-F5344CB8AC3E}">
        <p14:creationId xmlns:p14="http://schemas.microsoft.com/office/powerpoint/2010/main" val="3150744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marL="2669581">
              <a:defRPr baseline="0"/>
            </a:lvl6pPr>
            <a:lvl7pPr marL="2669581">
              <a:defRPr baseline="0"/>
            </a:lvl7pPr>
            <a:lvl8pPr marL="2669581">
              <a:defRPr baseline="0"/>
            </a:lvl8pPr>
            <a:lvl9pPr marL="2669581">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B9B9059-F1D6-41D0-95CF-D21CAA096B3A}" type="datetimeFigureOut">
              <a:rPr lang="en-US" smtClean="0"/>
              <a:t>2/4/2026</a:t>
            </a:fld>
            <a:endParaRPr lang="en-US"/>
          </a:p>
        </p:txBody>
      </p:sp>
      <p:sp>
        <p:nvSpPr>
          <p:cNvPr id="6" name="Slide Number Placeholder 5"/>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2153475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40043" y="685800"/>
            <a:ext cx="1843982" cy="558800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914163" y="685800"/>
            <a:ext cx="9040045" cy="5588002"/>
          </a:xfrm>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B9B9059-F1D6-41D0-95CF-D21CAA096B3A}" type="datetimeFigureOut">
              <a:rPr lang="en-US" smtClean="0"/>
              <a:t>2/4/2026</a:t>
            </a:fld>
            <a:endParaRPr lang="en-US"/>
          </a:p>
        </p:txBody>
      </p:sp>
      <p:sp>
        <p:nvSpPr>
          <p:cNvPr id="6" name="Slide Number Placeholder 5"/>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199176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163" y="482600"/>
            <a:ext cx="10360501" cy="1219200"/>
          </a:xfrm>
          <a:prstGeom prst="rect">
            <a:avLst/>
          </a:prstGeom>
          <a:effectLst/>
        </p:spPr>
        <p:txBody>
          <a:bodyPr vert="horz" lIns="121899" tIns="60949" rIns="121899" bIns="60949" rtlCol="0" anchor="b" anchorCtr="0">
            <a:normAutofit/>
          </a:bodyPr>
          <a:lstStyle/>
          <a:p>
            <a:r>
              <a:rPr lang="en-US"/>
              <a:t>Click to edit Master title style</a:t>
            </a:r>
            <a:endParaRPr/>
          </a:p>
        </p:txBody>
      </p:sp>
      <p:sp>
        <p:nvSpPr>
          <p:cNvPr id="3" name="Text Placeholder 2"/>
          <p:cNvSpPr>
            <a:spLocks noGrp="1"/>
          </p:cNvSpPr>
          <p:nvPr>
            <p:ph type="body" idx="1"/>
          </p:nvPr>
        </p:nvSpPr>
        <p:spPr>
          <a:xfrm>
            <a:off x="914163" y="1803401"/>
            <a:ext cx="10360501"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14163" y="6375400"/>
            <a:ext cx="7414869" cy="195072"/>
          </a:xfrm>
          <a:prstGeom prst="rect">
            <a:avLst/>
          </a:prstGeom>
        </p:spPr>
        <p:txBody>
          <a:bodyPr vert="horz" lIns="121899" tIns="60949" rIns="121899" bIns="60949" rtlCol="0" anchor="ctr"/>
          <a:lstStyle>
            <a:lvl1pPr algn="l">
              <a:defRPr sz="1100">
                <a:solidFill>
                  <a:schemeClr val="tx1"/>
                </a:solidFill>
              </a:defRPr>
            </a:lvl1pPr>
          </a:lstStyle>
          <a:p>
            <a:endParaRPr lang="en-US"/>
          </a:p>
        </p:txBody>
      </p:sp>
      <p:sp>
        <p:nvSpPr>
          <p:cNvPr id="4" name="Date Placeholder 3"/>
          <p:cNvSpPr>
            <a:spLocks noGrp="1"/>
          </p:cNvSpPr>
          <p:nvPr>
            <p:ph type="dt" sz="half" idx="2"/>
          </p:nvPr>
        </p:nvSpPr>
        <p:spPr>
          <a:xfrm>
            <a:off x="8735324" y="6375400"/>
            <a:ext cx="1422030" cy="195072"/>
          </a:xfrm>
          <a:prstGeom prst="rect">
            <a:avLst/>
          </a:prstGeom>
        </p:spPr>
        <p:txBody>
          <a:bodyPr vert="horz" lIns="121899" tIns="60949" rIns="121899" bIns="60949" rtlCol="0" anchor="ctr"/>
          <a:lstStyle>
            <a:lvl1pPr algn="r">
              <a:defRPr sz="1100">
                <a:solidFill>
                  <a:schemeClr val="tx1"/>
                </a:solidFill>
              </a:defRPr>
            </a:lvl1pPr>
          </a:lstStyle>
          <a:p>
            <a:fld id="{3B9B9059-F1D6-41D0-95CF-D21CAA096B3A}" type="datetimeFigureOut">
              <a:rPr lang="en-US" smtClean="0"/>
              <a:pPr/>
              <a:t>2/4/2026</a:t>
            </a:fld>
            <a:endParaRPr lang="en-US"/>
          </a:p>
        </p:txBody>
      </p:sp>
      <p:sp>
        <p:nvSpPr>
          <p:cNvPr id="6" name="Slide Number Placeholder 5"/>
          <p:cNvSpPr>
            <a:spLocks noGrp="1"/>
          </p:cNvSpPr>
          <p:nvPr>
            <p:ph type="sldNum" sz="quarter" idx="4"/>
          </p:nvPr>
        </p:nvSpPr>
        <p:spPr>
          <a:xfrm>
            <a:off x="10441760" y="6375400"/>
            <a:ext cx="832903" cy="195072"/>
          </a:xfrm>
          <a:prstGeom prst="rect">
            <a:avLst/>
          </a:prstGeom>
        </p:spPr>
        <p:txBody>
          <a:bodyPr vert="horz" lIns="121899" tIns="60949" rIns="121899" bIns="60949" rtlCol="0" anchor="ctr"/>
          <a:lstStyle>
            <a:lvl1pPr algn="r">
              <a:defRPr sz="1100">
                <a:solidFill>
                  <a:schemeClr val="tx1"/>
                </a:solidFill>
              </a:defRPr>
            </a:lvl1pPr>
          </a:lstStyle>
          <a:p>
            <a:fld id="{E5FD5434-F838-4DD4-A17B-1CB1A1850DF4}" type="slidenum">
              <a:rPr lang="en-US" smtClean="0"/>
              <a:pPr/>
              <a:t>‹#›</a:t>
            </a:fld>
            <a:endParaRPr lang="en-US"/>
          </a:p>
        </p:txBody>
      </p:sp>
    </p:spTree>
    <p:extLst>
      <p:ext uri="{BB962C8B-B14F-4D97-AF65-F5344CB8AC3E}">
        <p14:creationId xmlns:p14="http://schemas.microsoft.com/office/powerpoint/2010/main" val="429948849"/>
      </p:ext>
    </p:extLst>
  </p:cSld>
  <p:clrMap bg1="dk1" tx1="lt1" bg2="dk2" tx2="lt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80000"/>
        </a:lnSpc>
        <a:spcBef>
          <a:spcPct val="0"/>
        </a:spcBef>
        <a:buNone/>
        <a:defRPr sz="3600" kern="1200" cap="all" baseline="0">
          <a:solidFill>
            <a:schemeClr val="tx1"/>
          </a:solidFill>
          <a:effectLst/>
          <a:latin typeface="+mj-lt"/>
          <a:ea typeface="+mj-ea"/>
          <a:cs typeface="+mj-cs"/>
        </a:defRPr>
      </a:lvl1pPr>
    </p:titleStyle>
    <p:bodyStyle>
      <a:lvl1pPr marL="274320" indent="-274320" algn="l" defTabSz="1218987" rtl="0" eaLnBrk="1" latinLnBrk="0" hangingPunct="1">
        <a:lnSpc>
          <a:spcPct val="90000"/>
        </a:lnSpc>
        <a:spcBef>
          <a:spcPts val="1600"/>
        </a:spcBef>
        <a:buClr>
          <a:schemeClr val="accent1"/>
        </a:buClr>
        <a:buSzPct val="90000"/>
        <a:buFont typeface="Arial" pitchFamily="34" charset="0"/>
        <a:buChar char="•"/>
        <a:defRPr sz="2800" kern="1200">
          <a:solidFill>
            <a:schemeClr val="tx1"/>
          </a:solidFill>
          <a:latin typeface="+mn-lt"/>
          <a:ea typeface="+mn-ea"/>
          <a:cs typeface="+mn-cs"/>
        </a:defRPr>
      </a:lvl1pPr>
      <a:lvl2pPr marL="548640" indent="-274320" algn="l" defTabSz="1218987" rtl="0" eaLnBrk="1" latinLnBrk="0" hangingPunct="1">
        <a:lnSpc>
          <a:spcPct val="90000"/>
        </a:lnSpc>
        <a:spcBef>
          <a:spcPts val="800"/>
        </a:spcBef>
        <a:buClr>
          <a:schemeClr val="accent1"/>
        </a:buClr>
        <a:buSzPct val="90000"/>
        <a:buFont typeface="Cambria" pitchFamily="18" charset="0"/>
        <a:buChar char="–"/>
        <a:defRPr sz="2400" kern="1200">
          <a:solidFill>
            <a:schemeClr val="tx1"/>
          </a:solidFill>
          <a:latin typeface="+mn-lt"/>
          <a:ea typeface="+mn-ea"/>
          <a:cs typeface="+mn-cs"/>
        </a:defRPr>
      </a:lvl2pPr>
      <a:lvl3pPr marL="822960" indent="-274320" algn="l" defTabSz="1218987" rtl="0" eaLnBrk="1" latinLnBrk="0" hangingPunct="1">
        <a:lnSpc>
          <a:spcPct val="90000"/>
        </a:lnSpc>
        <a:spcBef>
          <a:spcPts val="800"/>
        </a:spcBef>
        <a:buClr>
          <a:schemeClr val="accent1"/>
        </a:buClr>
        <a:buFont typeface="Arial" pitchFamily="34" charset="0"/>
        <a:buChar char="•"/>
        <a:defRPr sz="2000" kern="1200">
          <a:solidFill>
            <a:schemeClr val="tx1"/>
          </a:solidFill>
          <a:latin typeface="+mn-lt"/>
          <a:ea typeface="+mn-ea"/>
          <a:cs typeface="+mn-cs"/>
        </a:defRPr>
      </a:lvl3pPr>
      <a:lvl4pPr marL="1097280" indent="-274320" algn="l" defTabSz="1218987" rtl="0" eaLnBrk="1" latinLnBrk="0" hangingPunct="1">
        <a:lnSpc>
          <a:spcPct val="90000"/>
        </a:lnSpc>
        <a:spcBef>
          <a:spcPts val="800"/>
        </a:spcBef>
        <a:buClr>
          <a:schemeClr val="accent1"/>
        </a:buClr>
        <a:buSzPct val="100000"/>
        <a:buFont typeface="Cambria" pitchFamily="18" charset="0"/>
        <a:buChar char="–"/>
        <a:defRPr sz="1800" kern="1200">
          <a:solidFill>
            <a:schemeClr val="tx1"/>
          </a:solidFill>
          <a:latin typeface="+mn-lt"/>
          <a:ea typeface="+mn-ea"/>
          <a:cs typeface="+mn-cs"/>
        </a:defRPr>
      </a:lvl4pPr>
      <a:lvl5pPr marL="1371599" indent="-274320" algn="l" defTabSz="1218987" rtl="0" eaLnBrk="1" latinLnBrk="0" hangingPunct="1">
        <a:lnSpc>
          <a:spcPct val="90000"/>
        </a:lnSpc>
        <a:spcBef>
          <a:spcPts val="800"/>
        </a:spcBef>
        <a:buClr>
          <a:schemeClr val="accent1"/>
        </a:buClr>
        <a:buFont typeface="Arial" pitchFamily="34" charset="0"/>
        <a:buChar char="•"/>
        <a:defRPr sz="1600" kern="1200">
          <a:solidFill>
            <a:schemeClr val="tx1"/>
          </a:solidFill>
          <a:latin typeface="+mn-lt"/>
          <a:ea typeface="+mn-ea"/>
          <a:cs typeface="+mn-cs"/>
        </a:defRPr>
      </a:lvl5pPr>
      <a:lvl6pPr marL="1645920" indent="-274320" algn="l" defTabSz="1218987" rtl="0" eaLnBrk="1" latinLnBrk="0" hangingPunct="1">
        <a:lnSpc>
          <a:spcPct val="90000"/>
        </a:lnSpc>
        <a:spcBef>
          <a:spcPts val="800"/>
        </a:spcBef>
        <a:buClr>
          <a:schemeClr val="accent1"/>
        </a:buClr>
        <a:buSzPct val="100000"/>
        <a:buFont typeface="Cambria" pitchFamily="18" charset="0"/>
        <a:buChar char="–"/>
        <a:defRPr sz="1600" kern="1200">
          <a:solidFill>
            <a:schemeClr val="tx1"/>
          </a:solidFill>
          <a:latin typeface="+mn-lt"/>
          <a:ea typeface="+mn-ea"/>
          <a:cs typeface="+mn-cs"/>
        </a:defRPr>
      </a:lvl6pPr>
      <a:lvl7pPr marL="1920240" indent="-274320" algn="l" defTabSz="1218987" rtl="0" eaLnBrk="1" latinLnBrk="0" hangingPunct="1">
        <a:lnSpc>
          <a:spcPct val="90000"/>
        </a:lnSpc>
        <a:spcBef>
          <a:spcPts val="800"/>
        </a:spcBef>
        <a:buClr>
          <a:schemeClr val="accent1"/>
        </a:buClr>
        <a:buFont typeface="Arial" pitchFamily="34" charset="0"/>
        <a:buChar char="•"/>
        <a:defRPr sz="1600" kern="1200">
          <a:solidFill>
            <a:schemeClr val="tx1"/>
          </a:solidFill>
          <a:latin typeface="+mn-lt"/>
          <a:ea typeface="+mn-ea"/>
          <a:cs typeface="+mn-cs"/>
        </a:defRPr>
      </a:lvl7pPr>
      <a:lvl8pPr marL="2194559" indent="-274320" algn="l" defTabSz="1218987" rtl="0" eaLnBrk="1" latinLnBrk="0" hangingPunct="1">
        <a:lnSpc>
          <a:spcPct val="90000"/>
        </a:lnSpc>
        <a:spcBef>
          <a:spcPts val="800"/>
        </a:spcBef>
        <a:buClr>
          <a:schemeClr val="accent1"/>
        </a:buClr>
        <a:buSzPct val="100000"/>
        <a:buFont typeface="Cambria" pitchFamily="18" charset="0"/>
        <a:buChar char="–"/>
        <a:defRPr sz="1600" kern="1200">
          <a:solidFill>
            <a:schemeClr val="tx1"/>
          </a:solidFill>
          <a:latin typeface="+mn-lt"/>
          <a:ea typeface="+mn-ea"/>
          <a:cs typeface="+mn-cs"/>
        </a:defRPr>
      </a:lvl8pPr>
      <a:lvl9pPr marL="2468880" indent="-274320" algn="l" defTabSz="1218987" rtl="0" eaLnBrk="1" latinLnBrk="0" hangingPunct="1">
        <a:lnSpc>
          <a:spcPct val="90000"/>
        </a:lnSpc>
        <a:spcBef>
          <a:spcPts val="800"/>
        </a:spcBef>
        <a:buClr>
          <a:schemeClr val="accent1"/>
        </a:buClr>
        <a:buFont typeface="Arial" pitchFamily="34" charset="0"/>
        <a:buChar char="•"/>
        <a:defRPr sz="1600" kern="120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2" algn="l" defTabSz="1218987" rtl="0" eaLnBrk="1" latinLnBrk="0" hangingPunct="1">
        <a:defRPr sz="2400" kern="1200">
          <a:solidFill>
            <a:schemeClr val="tx1"/>
          </a:solidFill>
          <a:latin typeface="+mn-lt"/>
          <a:ea typeface="+mn-ea"/>
          <a:cs typeface="+mn-cs"/>
        </a:defRPr>
      </a:lvl5pPr>
      <a:lvl6pPr marL="3047466"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4.sv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6212" y="678636"/>
            <a:ext cx="9677400" cy="2369363"/>
          </a:xfrm>
        </p:spPr>
        <p:txBody>
          <a:bodyPr/>
          <a:lstStyle/>
          <a:p>
            <a:r>
              <a:rPr lang="en-US"/>
              <a:t>First Year Students Are Leaving UofL from Some Majors More Than Others</a:t>
            </a:r>
          </a:p>
        </p:txBody>
      </p:sp>
      <p:sp>
        <p:nvSpPr>
          <p:cNvPr id="3" name="Subtitle 2"/>
          <p:cNvSpPr>
            <a:spLocks noGrp="1"/>
          </p:cNvSpPr>
          <p:nvPr>
            <p:ph type="subTitle" idx="1"/>
          </p:nvPr>
        </p:nvSpPr>
        <p:spPr>
          <a:xfrm>
            <a:off x="6317517" y="5624147"/>
            <a:ext cx="5187095" cy="1083487"/>
          </a:xfrm>
        </p:spPr>
        <p:txBody>
          <a:bodyPr vert="horz" lIns="121899" tIns="60949" rIns="121899" bIns="60949" rtlCol="0" anchor="t">
            <a:normAutofit fontScale="77500" lnSpcReduction="20000"/>
          </a:bodyPr>
          <a:lstStyle/>
          <a:p>
            <a:r>
              <a:rPr lang="en-US"/>
              <a:t>Spencer Goss, Miranda </a:t>
            </a:r>
            <a:r>
              <a:rPr lang="en-US" err="1"/>
              <a:t>Pachini</a:t>
            </a:r>
            <a:r>
              <a:rPr lang="en-US"/>
              <a:t>, Caroline Clark, German Collado</a:t>
            </a:r>
          </a:p>
          <a:p>
            <a:endParaRPr lang="en-US"/>
          </a:p>
          <a:p>
            <a:r>
              <a:rPr lang="en-US"/>
              <a:t>February 4, 2026</a:t>
            </a:r>
          </a:p>
          <a:p>
            <a:endParaRPr lang="en-US"/>
          </a:p>
        </p:txBody>
      </p:sp>
      <p:pic>
        <p:nvPicPr>
          <p:cNvPr id="1028" name="Picture 4" descr="University of Louisville Logo, symbol, meaning, history, PNG, brand">
            <a:extLst>
              <a:ext uri="{FF2B5EF4-FFF2-40B4-BE49-F238E27FC236}">
                <a16:creationId xmlns:a16="http://schemas.microsoft.com/office/drawing/2014/main" id="{C5F44D26-1389-2266-AB2E-470DB832FF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91" y="4181475"/>
            <a:ext cx="4762500"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0295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D4BB2-D6EC-AD61-444B-B1CEED9CCCC8}"/>
              </a:ext>
            </a:extLst>
          </p:cNvPr>
          <p:cNvSpPr>
            <a:spLocks noGrp="1"/>
          </p:cNvSpPr>
          <p:nvPr>
            <p:ph type="title"/>
          </p:nvPr>
        </p:nvSpPr>
        <p:spPr>
          <a:xfrm>
            <a:off x="914163" y="482600"/>
            <a:ext cx="10360501" cy="829042"/>
          </a:xfrm>
        </p:spPr>
        <p:txBody>
          <a:bodyPr/>
          <a:lstStyle/>
          <a:p>
            <a:r>
              <a:rPr lang="en-US"/>
              <a:t>Overview</a:t>
            </a:r>
          </a:p>
        </p:txBody>
      </p:sp>
      <p:sp>
        <p:nvSpPr>
          <p:cNvPr id="3" name="Content Placeholder 2">
            <a:extLst>
              <a:ext uri="{FF2B5EF4-FFF2-40B4-BE49-F238E27FC236}">
                <a16:creationId xmlns:a16="http://schemas.microsoft.com/office/drawing/2014/main" id="{FEA00C58-40EB-4D09-E0F5-5B1F7755B1C8}"/>
              </a:ext>
            </a:extLst>
          </p:cNvPr>
          <p:cNvSpPr>
            <a:spLocks noGrp="1"/>
          </p:cNvSpPr>
          <p:nvPr>
            <p:ph idx="1"/>
          </p:nvPr>
        </p:nvSpPr>
        <p:spPr>
          <a:xfrm>
            <a:off x="908523" y="1714323"/>
            <a:ext cx="10366141" cy="2008842"/>
          </a:xfrm>
        </p:spPr>
        <p:txBody>
          <a:bodyPr vert="horz" lIns="121899" tIns="60949" rIns="121899" bIns="60949" rtlCol="0" anchor="t">
            <a:normAutofit/>
          </a:bodyPr>
          <a:lstStyle/>
          <a:p>
            <a:r>
              <a:rPr lang="en-US"/>
              <a:t>Purpose</a:t>
            </a:r>
          </a:p>
          <a:p>
            <a:pPr lvl="1"/>
            <a:r>
              <a:rPr lang="en-US">
                <a:ea typeface="+mn-lt"/>
                <a:cs typeface="+mn-lt"/>
              </a:rPr>
              <a:t>Analyze first-year student retention across majors</a:t>
            </a:r>
          </a:p>
          <a:p>
            <a:pPr lvl="1"/>
            <a:r>
              <a:rPr lang="en-US">
                <a:ea typeface="+mn-lt"/>
                <a:cs typeface="+mn-lt"/>
              </a:rPr>
              <a:t>Identify patterns related to persistence and attrition</a:t>
            </a:r>
            <a:endParaRPr lang="en-US"/>
          </a:p>
          <a:p>
            <a:pPr lvl="1">
              <a:buFont typeface="Cambria" pitchFamily="34" charset="0"/>
              <a:buChar char="–"/>
            </a:pPr>
            <a:endParaRPr lang="en-US"/>
          </a:p>
          <a:p>
            <a:pPr lvl="1">
              <a:buFont typeface="Cambria" pitchFamily="34" charset="0"/>
              <a:buChar char="–"/>
            </a:pPr>
            <a:endParaRPr lang="en-US"/>
          </a:p>
          <a:p>
            <a:pPr lvl="1">
              <a:buFont typeface="Cambria" pitchFamily="34" charset="0"/>
              <a:buChar char="–"/>
            </a:pPr>
            <a:endParaRPr lang="en-US"/>
          </a:p>
        </p:txBody>
      </p:sp>
      <p:sp>
        <p:nvSpPr>
          <p:cNvPr id="4" name="TextBox 3">
            <a:extLst>
              <a:ext uri="{FF2B5EF4-FFF2-40B4-BE49-F238E27FC236}">
                <a16:creationId xmlns:a16="http://schemas.microsoft.com/office/drawing/2014/main" id="{77860C99-5ED2-CDA1-38C2-DF669C245640}"/>
              </a:ext>
            </a:extLst>
          </p:cNvPr>
          <p:cNvSpPr txBox="1"/>
          <p:nvPr/>
        </p:nvSpPr>
        <p:spPr>
          <a:xfrm>
            <a:off x="907455" y="3720172"/>
            <a:ext cx="10019125" cy="2000548"/>
          </a:xfrm>
          <a:prstGeom prst="rect">
            <a:avLst/>
          </a:prstGeom>
          <a:noFill/>
          <a:ln>
            <a:no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457200" indent="-457200">
              <a:buFont typeface="Arial"/>
              <a:buChar char="•"/>
            </a:pPr>
            <a:r>
              <a:rPr lang="en-US" sz="2800"/>
              <a:t>Data</a:t>
            </a:r>
            <a:endParaRPr lang="en-US"/>
          </a:p>
          <a:p>
            <a:r>
              <a:rPr lang="en-US"/>
              <a:t>  - 90</a:t>
            </a:r>
            <a:r>
              <a:rPr lang="en-US">
                <a:ea typeface="+mn-lt"/>
                <a:cs typeface="+mn-lt"/>
              </a:rPr>
              <a:t> cohort–major observations (2016–2024)</a:t>
            </a:r>
          </a:p>
          <a:p>
            <a:pPr marL="608965" lvl="1"/>
            <a:r>
              <a:rPr lang="en-US">
                <a:ea typeface="+mn-lt"/>
                <a:cs typeface="+mn-lt"/>
              </a:rPr>
              <a:t>  -10 entry majors, 8 variables</a:t>
            </a:r>
            <a:endParaRPr lang="en-US"/>
          </a:p>
          <a:p>
            <a:pPr marL="1066165" lvl="1" indent="-457200">
              <a:buFont typeface="Calibri"/>
              <a:buChar char="-"/>
            </a:pPr>
            <a:endParaRPr lang="en-US"/>
          </a:p>
          <a:p>
            <a:pPr marL="457200" indent="-457200">
              <a:buFont typeface="Arial"/>
              <a:buChar char="•"/>
            </a:pPr>
            <a:endParaRPr lang="en-US"/>
          </a:p>
        </p:txBody>
      </p:sp>
    </p:spTree>
    <p:extLst>
      <p:ext uri="{BB962C8B-B14F-4D97-AF65-F5344CB8AC3E}">
        <p14:creationId xmlns:p14="http://schemas.microsoft.com/office/powerpoint/2010/main" val="7460467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t>Did you know...</a:t>
            </a:r>
          </a:p>
        </p:txBody>
      </p:sp>
      <p:sp>
        <p:nvSpPr>
          <p:cNvPr id="14" name="Content Placeholder 13"/>
          <p:cNvSpPr>
            <a:spLocks noGrp="1"/>
          </p:cNvSpPr>
          <p:nvPr>
            <p:ph idx="1"/>
          </p:nvPr>
        </p:nvSpPr>
        <p:spPr>
          <a:xfrm>
            <a:off x="914163" y="1697895"/>
            <a:ext cx="4860634" cy="4575906"/>
          </a:xfrm>
        </p:spPr>
        <p:txBody>
          <a:bodyPr vert="horz" lIns="121899" tIns="60949" rIns="121899" bIns="60949" rtlCol="0" anchor="t">
            <a:normAutofit/>
          </a:bodyPr>
          <a:lstStyle/>
          <a:p>
            <a:pPr marL="0" indent="0">
              <a:buNone/>
            </a:pPr>
            <a:r>
              <a:rPr lang="en-US"/>
              <a:t>University of Louisville's first to second year retention rate is about 80% ?</a:t>
            </a:r>
          </a:p>
          <a:p>
            <a:pPr marL="0" indent="0">
              <a:buNone/>
            </a:pPr>
            <a:endParaRPr lang="en-US"/>
          </a:p>
          <a:p>
            <a:pPr lvl="1">
              <a:buFont typeface="Calibri" pitchFamily="18" charset="0"/>
              <a:buChar char="-"/>
            </a:pPr>
            <a:r>
              <a:rPr lang="en-US"/>
              <a:t>This falls above the national average of 69.5%</a:t>
            </a:r>
          </a:p>
          <a:p>
            <a:pPr lvl="1">
              <a:buFont typeface="Calibri" pitchFamily="18" charset="0"/>
              <a:buChar char="-"/>
            </a:pPr>
            <a:endParaRPr lang="en-US"/>
          </a:p>
          <a:p>
            <a:pPr lvl="1">
              <a:buFont typeface="Calibri" pitchFamily="18" charset="0"/>
              <a:buChar char="-"/>
            </a:pPr>
            <a:r>
              <a:rPr lang="en-US"/>
              <a:t>But BELOW University of Kentucky's of 87%!</a:t>
            </a:r>
          </a:p>
          <a:p>
            <a:pPr marL="274320" lvl="1" indent="0">
              <a:buNone/>
            </a:pPr>
            <a:endParaRPr lang="en-US"/>
          </a:p>
        </p:txBody>
      </p:sp>
      <p:pic>
        <p:nvPicPr>
          <p:cNvPr id="2" name="Picture 1" descr="A graph of different colored bars&#10;&#10;AI-generated content may be incorrect.">
            <a:extLst>
              <a:ext uri="{FF2B5EF4-FFF2-40B4-BE49-F238E27FC236}">
                <a16:creationId xmlns:a16="http://schemas.microsoft.com/office/drawing/2014/main" id="{47B76D67-47F8-2701-378B-AC4CD3D7C103}"/>
              </a:ext>
            </a:extLst>
          </p:cNvPr>
          <p:cNvPicPr>
            <a:picLocks noChangeAspect="1"/>
          </p:cNvPicPr>
          <p:nvPr/>
        </p:nvPicPr>
        <p:blipFill>
          <a:blip r:embed="rId3"/>
          <a:stretch>
            <a:fillRect/>
          </a:stretch>
        </p:blipFill>
        <p:spPr>
          <a:xfrm>
            <a:off x="6265531" y="1799498"/>
            <a:ext cx="5362476" cy="3890363"/>
          </a:xfrm>
          <a:prstGeom prst="rect">
            <a:avLst/>
          </a:prstGeom>
        </p:spPr>
      </p:pic>
      <p:pic>
        <p:nvPicPr>
          <p:cNvPr id="4" name="Graphic 3" descr="Lights On with solid fill">
            <a:extLst>
              <a:ext uri="{FF2B5EF4-FFF2-40B4-BE49-F238E27FC236}">
                <a16:creationId xmlns:a16="http://schemas.microsoft.com/office/drawing/2014/main" id="{DA04CB78-CA12-ECF7-DDAE-190EDA0DD1F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6660" y="182387"/>
            <a:ext cx="914445" cy="914400"/>
          </a:xfrm>
          <a:prstGeom prst="rect">
            <a:avLst/>
          </a:prstGeom>
        </p:spPr>
      </p:pic>
    </p:spTree>
    <p:extLst>
      <p:ext uri="{BB962C8B-B14F-4D97-AF65-F5344CB8AC3E}">
        <p14:creationId xmlns:p14="http://schemas.microsoft.com/office/powerpoint/2010/main" val="391252073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EC43340-6952-E40C-2B4D-2287FBBF6317}"/>
              </a:ext>
            </a:extLst>
          </p:cNvPr>
          <p:cNvSpPr txBox="1">
            <a:spLocks/>
          </p:cNvSpPr>
          <p:nvPr/>
        </p:nvSpPr>
        <p:spPr>
          <a:xfrm>
            <a:off x="914163" y="482600"/>
            <a:ext cx="10360501" cy="1219200"/>
          </a:xfrm>
          <a:prstGeom prst="rect">
            <a:avLst/>
          </a:prstGeom>
          <a:effectLst/>
        </p:spPr>
        <p:txBody>
          <a:bodyPr vert="horz" lIns="121899" tIns="60949" rIns="121899" bIns="60949" rtlCol="0" anchor="b" anchorCtr="0">
            <a:normAutofit/>
          </a:bodyPr>
          <a:lstStyle>
            <a:lvl1pPr algn="l" defTabSz="1218987" rtl="0" eaLnBrk="1" latinLnBrk="0" hangingPunct="1">
              <a:lnSpc>
                <a:spcPct val="80000"/>
              </a:lnSpc>
              <a:spcBef>
                <a:spcPct val="0"/>
              </a:spcBef>
              <a:buNone/>
              <a:defRPr sz="3600" kern="1200" cap="all" baseline="0">
                <a:solidFill>
                  <a:schemeClr val="tx1"/>
                </a:solidFill>
                <a:effectLst/>
                <a:latin typeface="+mj-lt"/>
                <a:ea typeface="+mj-ea"/>
                <a:cs typeface="+mj-cs"/>
              </a:defRPr>
            </a:lvl1pPr>
          </a:lstStyle>
          <a:p>
            <a:pPr>
              <a:spcAft>
                <a:spcPts val="600"/>
              </a:spcAft>
            </a:pPr>
            <a:r>
              <a:rPr lang="en-US"/>
              <a:t>Reasons why students may leave their first year </a:t>
            </a:r>
          </a:p>
          <a:p>
            <a:pPr>
              <a:spcAft>
                <a:spcPts val="600"/>
              </a:spcAft>
            </a:pPr>
            <a:endParaRPr lang="en-US"/>
          </a:p>
        </p:txBody>
      </p:sp>
      <p:sp>
        <p:nvSpPr>
          <p:cNvPr id="2055" name="Content Placeholder 2">
            <a:extLst>
              <a:ext uri="{FF2B5EF4-FFF2-40B4-BE49-F238E27FC236}">
                <a16:creationId xmlns:a16="http://schemas.microsoft.com/office/drawing/2014/main" id="{635FB16C-D7F5-D929-26DE-17A30D422E1C}"/>
              </a:ext>
            </a:extLst>
          </p:cNvPr>
          <p:cNvSpPr>
            <a:spLocks noGrp="1"/>
          </p:cNvSpPr>
          <p:nvPr>
            <p:ph sz="half" idx="1"/>
          </p:nvPr>
        </p:nvSpPr>
        <p:spPr>
          <a:xfrm>
            <a:off x="914162" y="1803401"/>
            <a:ext cx="4977104" cy="4470400"/>
          </a:xfrm>
        </p:spPr>
        <p:txBody>
          <a:bodyPr/>
          <a:lstStyle/>
          <a:p>
            <a:r>
              <a:rPr lang="en-US"/>
              <a:t>Academic Challenges</a:t>
            </a:r>
          </a:p>
          <a:p>
            <a:pPr marL="0" indent="0">
              <a:buNone/>
            </a:pPr>
            <a:endParaRPr lang="en-US"/>
          </a:p>
          <a:p>
            <a:r>
              <a:rPr lang="en-US"/>
              <a:t>Homesickness </a:t>
            </a:r>
          </a:p>
          <a:p>
            <a:pPr marL="0" indent="0">
              <a:buNone/>
            </a:pPr>
            <a:endParaRPr lang="en-US"/>
          </a:p>
          <a:p>
            <a:r>
              <a:rPr lang="en-US"/>
              <a:t>Burnout from School</a:t>
            </a:r>
          </a:p>
          <a:p>
            <a:pPr marL="0" indent="0">
              <a:buNone/>
            </a:pPr>
            <a:endParaRPr lang="en-US"/>
          </a:p>
          <a:p>
            <a:r>
              <a:rPr lang="en-US"/>
              <a:t>Financial stress</a:t>
            </a:r>
          </a:p>
        </p:txBody>
      </p:sp>
      <p:pic>
        <p:nvPicPr>
          <p:cNvPr id="2050" name="Picture 2" descr="Struggling in College? How to get help before it’s too late! - All ...">
            <a:extLst>
              <a:ext uri="{FF2B5EF4-FFF2-40B4-BE49-F238E27FC236}">
                <a16:creationId xmlns:a16="http://schemas.microsoft.com/office/drawing/2014/main" id="{CCA29B8E-7F18-7245-C28B-E720536CF8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065" r="5174" b="-3"/>
          <a:stretch>
            <a:fillRect/>
          </a:stretch>
        </p:blipFill>
        <p:spPr bwMode="auto">
          <a:xfrm>
            <a:off x="6297559" y="1803401"/>
            <a:ext cx="4977104" cy="4470400"/>
          </a:xfrm>
          <a:prstGeom prst="rect">
            <a:avLst/>
          </a:prstGeom>
          <a:solidFill>
            <a:srgbClr val="FFFFFF"/>
          </a:solidFill>
        </p:spPr>
      </p:pic>
    </p:spTree>
    <p:extLst>
      <p:ext uri="{BB962C8B-B14F-4D97-AF65-F5344CB8AC3E}">
        <p14:creationId xmlns:p14="http://schemas.microsoft.com/office/powerpoint/2010/main" val="4515843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25B92-8289-D31C-D8CD-004AB30E5059}"/>
              </a:ext>
            </a:extLst>
          </p:cNvPr>
          <p:cNvSpPr>
            <a:spLocks noGrp="1"/>
          </p:cNvSpPr>
          <p:nvPr>
            <p:ph type="title"/>
          </p:nvPr>
        </p:nvSpPr>
        <p:spPr>
          <a:xfrm>
            <a:off x="914163" y="482600"/>
            <a:ext cx="10360501" cy="1219200"/>
          </a:xfrm>
        </p:spPr>
        <p:txBody>
          <a:bodyPr anchor="b">
            <a:normAutofit/>
          </a:bodyPr>
          <a:lstStyle/>
          <a:p>
            <a:r>
              <a:rPr lang="en-US" dirty="0"/>
              <a:t>Why retention matters?</a:t>
            </a:r>
          </a:p>
        </p:txBody>
      </p:sp>
      <p:sp>
        <p:nvSpPr>
          <p:cNvPr id="3" name="Content Placeholder 2">
            <a:extLst>
              <a:ext uri="{FF2B5EF4-FFF2-40B4-BE49-F238E27FC236}">
                <a16:creationId xmlns:a16="http://schemas.microsoft.com/office/drawing/2014/main" id="{CE5ABA08-1632-CCB7-4835-81B972141062}"/>
              </a:ext>
            </a:extLst>
          </p:cNvPr>
          <p:cNvSpPr>
            <a:spLocks noGrp="1"/>
          </p:cNvSpPr>
          <p:nvPr>
            <p:ph sz="half" idx="1"/>
          </p:nvPr>
        </p:nvSpPr>
        <p:spPr>
          <a:xfrm>
            <a:off x="914162" y="1803401"/>
            <a:ext cx="4977104" cy="4470400"/>
          </a:xfrm>
        </p:spPr>
        <p:txBody>
          <a:bodyPr vert="horz" lIns="121899" tIns="60949" rIns="121899" bIns="60949" rtlCol="0" anchor="t">
            <a:normAutofit/>
          </a:bodyPr>
          <a:lstStyle/>
          <a:p>
            <a:pPr>
              <a:buFont typeface="Calibri" pitchFamily="34" charset="0"/>
              <a:buChar char="-"/>
            </a:pPr>
            <a:r>
              <a:rPr lang="en-US" sz="2200" dirty="0"/>
              <a:t>Compete with other state universities.</a:t>
            </a:r>
          </a:p>
          <a:p>
            <a:pPr>
              <a:buFont typeface="Calibri" pitchFamily="34" charset="0"/>
              <a:buChar char="-"/>
            </a:pPr>
            <a:endParaRPr lang="en-US" sz="2200" dirty="0"/>
          </a:p>
          <a:p>
            <a:pPr>
              <a:buFont typeface="Calibri" pitchFamily="34" charset="0"/>
              <a:buChar char="-"/>
            </a:pPr>
            <a:r>
              <a:rPr lang="en-US" sz="2200" dirty="0"/>
              <a:t>Maintain a strong academic reputation.</a:t>
            </a:r>
          </a:p>
          <a:p>
            <a:pPr>
              <a:buFont typeface="Calibri" pitchFamily="34" charset="0"/>
              <a:buChar char="-"/>
            </a:pPr>
            <a:endParaRPr lang="en-US" sz="2200" dirty="0"/>
          </a:p>
          <a:p>
            <a:pPr>
              <a:buFont typeface="Calibri" pitchFamily="34" charset="0"/>
              <a:buChar char="-"/>
            </a:pPr>
            <a:r>
              <a:rPr lang="en-US" sz="2200" dirty="0"/>
              <a:t>Low retention rates can cause lost revenue, less funding and lower graduation rates.</a:t>
            </a:r>
          </a:p>
          <a:p>
            <a:pPr>
              <a:buFont typeface="Calibri" pitchFamily="34" charset="0"/>
              <a:buChar char="-"/>
            </a:pPr>
            <a:endParaRPr lang="en-US" sz="2200" dirty="0"/>
          </a:p>
          <a:p>
            <a:pPr>
              <a:buFont typeface="Calibri" pitchFamily="34" charset="0"/>
              <a:buChar char="-"/>
            </a:pPr>
            <a:endParaRPr lang="en-US" sz="2200" dirty="0"/>
          </a:p>
        </p:txBody>
      </p:sp>
      <p:pic>
        <p:nvPicPr>
          <p:cNvPr id="4" name="Picture 3" descr="A cartoon bee with a surprised expression&#10;&#10;AI-generated content may be incorrect.">
            <a:extLst>
              <a:ext uri="{FF2B5EF4-FFF2-40B4-BE49-F238E27FC236}">
                <a16:creationId xmlns:a16="http://schemas.microsoft.com/office/drawing/2014/main" id="{63AB0E90-9DF5-73E6-C1CB-2C5A01B2AA2B}"/>
              </a:ext>
            </a:extLst>
          </p:cNvPr>
          <p:cNvPicPr>
            <a:picLocks noChangeAspect="1"/>
          </p:cNvPicPr>
          <p:nvPr/>
        </p:nvPicPr>
        <p:blipFill>
          <a:blip r:embed="rId3"/>
          <a:srcRect r="-2" b="10179"/>
          <a:stretch>
            <a:fillRect/>
          </a:stretch>
        </p:blipFill>
        <p:spPr>
          <a:xfrm>
            <a:off x="6297559" y="1803401"/>
            <a:ext cx="4977104" cy="4470400"/>
          </a:xfrm>
          <a:prstGeom prst="rect">
            <a:avLst/>
          </a:prstGeom>
          <a:noFill/>
        </p:spPr>
      </p:pic>
    </p:spTree>
    <p:extLst>
      <p:ext uri="{BB962C8B-B14F-4D97-AF65-F5344CB8AC3E}">
        <p14:creationId xmlns:p14="http://schemas.microsoft.com/office/powerpoint/2010/main" val="3743776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7D01C-72F0-C235-5A59-A6872DB45A1A}"/>
              </a:ext>
            </a:extLst>
          </p:cNvPr>
          <p:cNvSpPr>
            <a:spLocks noGrp="1"/>
          </p:cNvSpPr>
          <p:nvPr>
            <p:ph type="title"/>
          </p:nvPr>
        </p:nvSpPr>
        <p:spPr/>
        <p:txBody>
          <a:bodyPr/>
          <a:lstStyle/>
          <a:p>
            <a:r>
              <a:rPr lang="en-US"/>
              <a:t>Full retention landscape</a:t>
            </a:r>
          </a:p>
        </p:txBody>
      </p:sp>
      <p:pic>
        <p:nvPicPr>
          <p:cNvPr id="4" name="Content Placeholder 3">
            <a:extLst>
              <a:ext uri="{FF2B5EF4-FFF2-40B4-BE49-F238E27FC236}">
                <a16:creationId xmlns:a16="http://schemas.microsoft.com/office/drawing/2014/main" id="{C579DC77-A75B-72D1-7569-C638126659B8}"/>
              </a:ext>
            </a:extLst>
          </p:cNvPr>
          <p:cNvPicPr>
            <a:picLocks noGrp="1" noChangeAspect="1"/>
          </p:cNvPicPr>
          <p:nvPr>
            <p:ph idx="1"/>
          </p:nvPr>
        </p:nvPicPr>
        <p:blipFill>
          <a:blip r:embed="rId3"/>
          <a:stretch>
            <a:fillRect/>
          </a:stretch>
        </p:blipFill>
        <p:spPr>
          <a:xfrm>
            <a:off x="5667765" y="1997679"/>
            <a:ext cx="6049874" cy="4114800"/>
          </a:xfrm>
          <a:prstGeom prst="rect">
            <a:avLst/>
          </a:prstGeom>
        </p:spPr>
      </p:pic>
      <p:sp>
        <p:nvSpPr>
          <p:cNvPr id="5" name="TextBox 4">
            <a:extLst>
              <a:ext uri="{FF2B5EF4-FFF2-40B4-BE49-F238E27FC236}">
                <a16:creationId xmlns:a16="http://schemas.microsoft.com/office/drawing/2014/main" id="{DF469D94-89D8-9B97-5058-A3B93599282A}"/>
              </a:ext>
            </a:extLst>
          </p:cNvPr>
          <p:cNvSpPr txBox="1"/>
          <p:nvPr/>
        </p:nvSpPr>
        <p:spPr>
          <a:xfrm>
            <a:off x="911745" y="1996176"/>
            <a:ext cx="4078585" cy="4524315"/>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342900" indent="-342900">
              <a:buFont typeface="Arial"/>
              <a:buChar char="•"/>
            </a:pPr>
            <a:r>
              <a:rPr lang="en-US"/>
              <a:t>UofL retention is higher than unit retention</a:t>
            </a:r>
          </a:p>
          <a:p>
            <a:pPr marL="342900" indent="-342900">
              <a:buFont typeface="Arial"/>
              <a:buChar char="•"/>
            </a:pPr>
            <a:r>
              <a:rPr lang="en-US"/>
              <a:t>Largest drop occurs between 1 to 2 and 1 to 3 at the unit level</a:t>
            </a:r>
          </a:p>
          <a:p>
            <a:pPr marL="342900" indent="-342900">
              <a:buFont typeface="Arial"/>
              <a:buChar char="•"/>
            </a:pPr>
            <a:r>
              <a:rPr lang="en-US"/>
              <a:t>Many students leave their academic unit but remain enrolled at UofL</a:t>
            </a:r>
          </a:p>
          <a:p>
            <a:pPr marL="342900" indent="-342900">
              <a:buFont typeface="Arial"/>
              <a:buChar char="•"/>
            </a:pPr>
            <a:r>
              <a:rPr lang="en-US"/>
              <a:t>These patterns show a direct financial implication for both units and the university</a:t>
            </a:r>
          </a:p>
        </p:txBody>
      </p:sp>
    </p:spTree>
    <p:extLst>
      <p:ext uri="{BB962C8B-B14F-4D97-AF65-F5344CB8AC3E}">
        <p14:creationId xmlns:p14="http://schemas.microsoft.com/office/powerpoint/2010/main" val="4269899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6FBD4-06E1-482D-92A5-408AB690626B}"/>
              </a:ext>
            </a:extLst>
          </p:cNvPr>
          <p:cNvSpPr>
            <a:spLocks noGrp="1"/>
          </p:cNvSpPr>
          <p:nvPr>
            <p:ph type="title"/>
          </p:nvPr>
        </p:nvSpPr>
        <p:spPr/>
        <p:txBody>
          <a:bodyPr/>
          <a:lstStyle/>
          <a:p>
            <a:r>
              <a:rPr lang="en-US"/>
              <a:t>When students stay, money stays</a:t>
            </a:r>
          </a:p>
        </p:txBody>
      </p:sp>
      <p:pic>
        <p:nvPicPr>
          <p:cNvPr id="7" name="Content Placeholder 6" descr="A graph with a line and a green line&#10;&#10;AI-generated content may be incorrect.">
            <a:extLst>
              <a:ext uri="{FF2B5EF4-FFF2-40B4-BE49-F238E27FC236}">
                <a16:creationId xmlns:a16="http://schemas.microsoft.com/office/drawing/2014/main" id="{4553E4D0-F800-619F-AC8D-5B40FC68800A}"/>
              </a:ext>
            </a:extLst>
          </p:cNvPr>
          <p:cNvPicPr>
            <a:picLocks noGrp="1" noChangeAspect="1"/>
          </p:cNvPicPr>
          <p:nvPr>
            <p:ph idx="1"/>
          </p:nvPr>
        </p:nvPicPr>
        <p:blipFill>
          <a:blip r:embed="rId3"/>
          <a:stretch>
            <a:fillRect/>
          </a:stretch>
        </p:blipFill>
        <p:spPr>
          <a:xfrm>
            <a:off x="505346" y="1932010"/>
            <a:ext cx="7149910" cy="4305300"/>
          </a:xfrm>
          <a:prstGeom prst="rect">
            <a:avLst/>
          </a:prstGeom>
        </p:spPr>
      </p:pic>
      <p:sp>
        <p:nvSpPr>
          <p:cNvPr id="3" name="TextBox 2">
            <a:extLst>
              <a:ext uri="{FF2B5EF4-FFF2-40B4-BE49-F238E27FC236}">
                <a16:creationId xmlns:a16="http://schemas.microsoft.com/office/drawing/2014/main" id="{3C9BBAD9-6016-0365-3576-12421C4DCCAB}"/>
              </a:ext>
            </a:extLst>
          </p:cNvPr>
          <p:cNvSpPr txBox="1"/>
          <p:nvPr/>
        </p:nvSpPr>
        <p:spPr>
          <a:xfrm>
            <a:off x="7868539" y="2238220"/>
            <a:ext cx="3408144" cy="3693319"/>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285750" indent="-285750">
              <a:buFont typeface="Arial"/>
              <a:buChar char="•"/>
            </a:pPr>
            <a:r>
              <a:rPr lang="en-US" sz="1800" b="1">
                <a:ea typeface="+mn-lt"/>
                <a:cs typeface="+mn-lt"/>
              </a:rPr>
              <a:t>More retention = more money for everyone</a:t>
            </a:r>
            <a:endParaRPr lang="en-US" sz="1800"/>
          </a:p>
          <a:p>
            <a:pPr marL="285750" indent="-285750">
              <a:buFont typeface="Arial"/>
              <a:buChar char="•"/>
            </a:pPr>
            <a:r>
              <a:rPr lang="en-US" sz="1800" b="1">
                <a:ea typeface="+mn-lt"/>
                <a:cs typeface="+mn-lt"/>
              </a:rPr>
              <a:t>Losing students = losing funding fast</a:t>
            </a:r>
            <a:endParaRPr lang="en-US" sz="1800"/>
          </a:p>
          <a:p>
            <a:pPr marL="285750" indent="-285750">
              <a:buFont typeface="Arial"/>
              <a:buChar char="•"/>
            </a:pPr>
            <a:r>
              <a:rPr lang="en-US" sz="1800" b="1">
                <a:ea typeface="+mn-lt"/>
                <a:cs typeface="+mn-lt"/>
              </a:rPr>
              <a:t>Low unit retention drains unit budgets</a:t>
            </a:r>
            <a:endParaRPr lang="en-US" sz="1800"/>
          </a:p>
          <a:p>
            <a:pPr marL="285750" indent="-285750">
              <a:buFont typeface="Arial"/>
              <a:buChar char="•"/>
            </a:pPr>
            <a:r>
              <a:rPr lang="en-US" sz="1800" b="1">
                <a:ea typeface="+mn-lt"/>
                <a:cs typeface="+mn-lt"/>
              </a:rPr>
              <a:t>UofL retention keeps the whole institution afloat</a:t>
            </a:r>
            <a:endParaRPr lang="en-US" sz="1800"/>
          </a:p>
          <a:p>
            <a:pPr marL="285750" indent="-285750">
              <a:buFont typeface="Arial"/>
              <a:buChar char="•"/>
            </a:pPr>
            <a:r>
              <a:rPr lang="en-US" sz="1800" b="1">
                <a:ea typeface="+mn-lt"/>
                <a:cs typeface="+mn-lt"/>
              </a:rPr>
              <a:t>Retention trends shape financial stability</a:t>
            </a:r>
            <a:endParaRPr lang="en-US" sz="1800"/>
          </a:p>
          <a:p>
            <a:pPr marL="285750" indent="-285750">
              <a:buFont typeface="Arial"/>
              <a:buChar char="•"/>
            </a:pPr>
            <a:r>
              <a:rPr lang="en-US" sz="1800" b="1">
                <a:ea typeface="+mn-lt"/>
                <a:cs typeface="+mn-lt"/>
              </a:rPr>
              <a:t>This is exactly why retention work matters</a:t>
            </a:r>
            <a:endParaRPr lang="en-US" sz="1800"/>
          </a:p>
          <a:p>
            <a:pPr algn="l"/>
            <a:endParaRPr lang="en-US" sz="1800"/>
          </a:p>
        </p:txBody>
      </p:sp>
    </p:spTree>
    <p:extLst>
      <p:ext uri="{BB962C8B-B14F-4D97-AF65-F5344CB8AC3E}">
        <p14:creationId xmlns:p14="http://schemas.microsoft.com/office/powerpoint/2010/main" val="3577508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B5A065A-96A5-FAE4-72A0-077FED583862}"/>
              </a:ext>
            </a:extLst>
          </p:cNvPr>
          <p:cNvPicPr>
            <a:picLocks noChangeAspect="1"/>
          </p:cNvPicPr>
          <p:nvPr/>
        </p:nvPicPr>
        <p:blipFill>
          <a:blip r:embed="rId3"/>
          <a:stretch>
            <a:fillRect/>
          </a:stretch>
        </p:blipFill>
        <p:spPr>
          <a:xfrm>
            <a:off x="398859" y="437912"/>
            <a:ext cx="11391106" cy="5982175"/>
          </a:xfrm>
          <a:prstGeom prst="rect">
            <a:avLst/>
          </a:prstGeom>
        </p:spPr>
      </p:pic>
    </p:spTree>
    <p:extLst>
      <p:ext uri="{BB962C8B-B14F-4D97-AF65-F5344CB8AC3E}">
        <p14:creationId xmlns:p14="http://schemas.microsoft.com/office/powerpoint/2010/main" val="1340452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FBA1D238-CADA-6A62-DDD4-2E7CDA9412FC}"/>
              </a:ext>
            </a:extLst>
          </p:cNvPr>
          <p:cNvSpPr>
            <a:spLocks noGrp="1"/>
          </p:cNvSpPr>
          <p:nvPr>
            <p:ph idx="1"/>
          </p:nvPr>
        </p:nvSpPr>
        <p:spPr>
          <a:xfrm>
            <a:off x="914163" y="1803401"/>
            <a:ext cx="10360501" cy="4470400"/>
          </a:xfrm>
        </p:spPr>
        <p:txBody>
          <a:bodyPr/>
          <a:lstStyle/>
          <a:p>
            <a:endParaRPr lang="en-US"/>
          </a:p>
        </p:txBody>
      </p:sp>
      <p:pic>
        <p:nvPicPr>
          <p:cNvPr id="9" name="Picture 8">
            <a:extLst>
              <a:ext uri="{FF2B5EF4-FFF2-40B4-BE49-F238E27FC236}">
                <a16:creationId xmlns:a16="http://schemas.microsoft.com/office/drawing/2014/main" id="{1B275D34-4E69-565F-8CE1-1A51B5D33DC1}"/>
              </a:ext>
            </a:extLst>
          </p:cNvPr>
          <p:cNvPicPr>
            <a:picLocks noChangeAspect="1"/>
          </p:cNvPicPr>
          <p:nvPr/>
        </p:nvPicPr>
        <p:blipFill>
          <a:blip r:embed="rId3"/>
          <a:stretch>
            <a:fillRect/>
          </a:stretch>
        </p:blipFill>
        <p:spPr>
          <a:xfrm>
            <a:off x="285825" y="459782"/>
            <a:ext cx="11617174" cy="5938436"/>
          </a:xfrm>
          <a:prstGeom prst="rect">
            <a:avLst/>
          </a:prstGeom>
        </p:spPr>
      </p:pic>
    </p:spTree>
    <p:extLst>
      <p:ext uri="{BB962C8B-B14F-4D97-AF65-F5344CB8AC3E}">
        <p14:creationId xmlns:p14="http://schemas.microsoft.com/office/powerpoint/2010/main" val="1677791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06B423-311C-B215-D33D-FEDD9ABB298D}"/>
              </a:ext>
            </a:extLst>
          </p:cNvPr>
          <p:cNvSpPr>
            <a:spLocks noGrp="1"/>
          </p:cNvSpPr>
          <p:nvPr>
            <p:ph idx="1"/>
          </p:nvPr>
        </p:nvSpPr>
        <p:spPr/>
        <p:txBody>
          <a:bodyPr vert="horz" lIns="121899" tIns="60949" rIns="121899" bIns="60949" rtlCol="0" anchor="t">
            <a:normAutofit/>
          </a:bodyPr>
          <a:lstStyle/>
          <a:p>
            <a:r>
              <a:rPr lang="en-US" dirty="0">
                <a:ea typeface="+mn-lt"/>
                <a:cs typeface="+mn-lt"/>
              </a:rPr>
              <a:t>Provide early academic support during the first year for units with low retention.</a:t>
            </a:r>
          </a:p>
          <a:p>
            <a:pPr lvl="1">
              <a:buFont typeface="Courier New" pitchFamily="34" charset="0"/>
              <a:buChar char="o"/>
            </a:pPr>
            <a:r>
              <a:rPr lang="en-US" dirty="0">
                <a:ea typeface="+mn-lt"/>
                <a:cs typeface="+mn-lt"/>
              </a:rPr>
              <a:t>Dentistry, Social Work, Education, and Arts &amp; Sciences</a:t>
            </a:r>
          </a:p>
          <a:p>
            <a:pPr marL="274320" lvl="1" indent="0">
              <a:buNone/>
            </a:pPr>
            <a:endParaRPr lang="en-US" dirty="0">
              <a:ea typeface="+mn-lt"/>
              <a:cs typeface="+mn-lt"/>
            </a:endParaRPr>
          </a:p>
          <a:p>
            <a:r>
              <a:rPr lang="en-US" dirty="0">
                <a:ea typeface="+mn-lt"/>
                <a:cs typeface="+mn-lt"/>
              </a:rPr>
              <a:t>Focus resources </a:t>
            </a:r>
          </a:p>
          <a:p>
            <a:pPr lvl="1">
              <a:buFont typeface="Courier New" pitchFamily="34" charset="0"/>
              <a:buChar char="o"/>
            </a:pPr>
            <a:r>
              <a:rPr lang="en-US" dirty="0"/>
              <a:t>Advising</a:t>
            </a:r>
          </a:p>
          <a:p>
            <a:pPr lvl="1">
              <a:buFont typeface="Courier New" pitchFamily="34" charset="0"/>
              <a:buChar char="o"/>
            </a:pPr>
            <a:r>
              <a:rPr lang="en-US" dirty="0"/>
              <a:t>Tutoring</a:t>
            </a:r>
          </a:p>
          <a:p>
            <a:pPr lvl="1">
              <a:buFont typeface="Courier New" pitchFamily="34" charset="0"/>
              <a:buChar char="o"/>
            </a:pPr>
            <a:r>
              <a:rPr lang="en-US" dirty="0"/>
              <a:t>Early-Alert Systems for students in danger of failing</a:t>
            </a:r>
          </a:p>
        </p:txBody>
      </p:sp>
      <p:sp>
        <p:nvSpPr>
          <p:cNvPr id="5" name="Title 4">
            <a:extLst>
              <a:ext uri="{FF2B5EF4-FFF2-40B4-BE49-F238E27FC236}">
                <a16:creationId xmlns:a16="http://schemas.microsoft.com/office/drawing/2014/main" id="{E3889313-BDF9-0304-9ED5-274FF36117B2}"/>
              </a:ext>
            </a:extLst>
          </p:cNvPr>
          <p:cNvSpPr>
            <a:spLocks noGrp="1"/>
          </p:cNvSpPr>
          <p:nvPr>
            <p:ph type="title"/>
          </p:nvPr>
        </p:nvSpPr>
        <p:spPr/>
        <p:txBody>
          <a:bodyPr/>
          <a:lstStyle/>
          <a:p>
            <a:r>
              <a:rPr lang="en-US" dirty="0"/>
              <a:t>Recommendations: support</a:t>
            </a:r>
          </a:p>
        </p:txBody>
      </p:sp>
      <p:pic>
        <p:nvPicPr>
          <p:cNvPr id="4" name="Graphic 3" descr="Classroom outline">
            <a:extLst>
              <a:ext uri="{FF2B5EF4-FFF2-40B4-BE49-F238E27FC236}">
                <a16:creationId xmlns:a16="http://schemas.microsoft.com/office/drawing/2014/main" id="{5CF982BF-B0A4-4022-9802-439524E514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7968" y="126999"/>
            <a:ext cx="914400" cy="914400"/>
          </a:xfrm>
          <a:prstGeom prst="rect">
            <a:avLst/>
          </a:prstGeom>
        </p:spPr>
      </p:pic>
    </p:spTree>
    <p:extLst>
      <p:ext uri="{BB962C8B-B14F-4D97-AF65-F5344CB8AC3E}">
        <p14:creationId xmlns:p14="http://schemas.microsoft.com/office/powerpoint/2010/main" val="2241518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75719-1A64-ADDB-B966-6A62109BD5DC}"/>
              </a:ext>
            </a:extLst>
          </p:cNvPr>
          <p:cNvSpPr>
            <a:spLocks noGrp="1"/>
          </p:cNvSpPr>
          <p:nvPr>
            <p:ph type="title"/>
          </p:nvPr>
        </p:nvSpPr>
        <p:spPr/>
        <p:txBody>
          <a:bodyPr>
            <a:normAutofit/>
          </a:bodyPr>
          <a:lstStyle/>
          <a:p>
            <a:r>
              <a:rPr lang="en-US" dirty="0"/>
              <a:t>Recommendations: large cohorts</a:t>
            </a:r>
          </a:p>
        </p:txBody>
      </p:sp>
      <p:sp>
        <p:nvSpPr>
          <p:cNvPr id="3" name="Content Placeholder 2">
            <a:extLst>
              <a:ext uri="{FF2B5EF4-FFF2-40B4-BE49-F238E27FC236}">
                <a16:creationId xmlns:a16="http://schemas.microsoft.com/office/drawing/2014/main" id="{FCC8A129-1893-A479-9648-E3D5E40FA113}"/>
              </a:ext>
            </a:extLst>
          </p:cNvPr>
          <p:cNvSpPr>
            <a:spLocks noGrp="1"/>
          </p:cNvSpPr>
          <p:nvPr>
            <p:ph idx="1"/>
          </p:nvPr>
        </p:nvSpPr>
        <p:spPr/>
        <p:txBody>
          <a:bodyPr vert="horz" lIns="121899" tIns="60949" rIns="121899" bIns="60949" rtlCol="0" anchor="t">
            <a:normAutofit lnSpcReduction="10000"/>
          </a:bodyPr>
          <a:lstStyle/>
          <a:p>
            <a:r>
              <a:rPr lang="en-US" dirty="0"/>
              <a:t>Target massive cohorts so small improvements will create large gains</a:t>
            </a:r>
          </a:p>
          <a:p>
            <a:endParaRPr lang="en-US" dirty="0"/>
          </a:p>
          <a:p>
            <a:r>
              <a:rPr lang="en-US" dirty="0"/>
              <a:t>Invest in retention programs</a:t>
            </a:r>
          </a:p>
          <a:p>
            <a:pPr lvl="1">
              <a:buFont typeface="Courier New" pitchFamily="34" charset="0"/>
              <a:buChar char="o"/>
            </a:pPr>
            <a:r>
              <a:rPr lang="en-US" dirty="0"/>
              <a:t>First year seminars: </a:t>
            </a:r>
          </a:p>
          <a:p>
            <a:pPr lvl="2">
              <a:buFont typeface="Wingdings" pitchFamily="34" charset="0"/>
              <a:buChar char="§"/>
            </a:pPr>
            <a:r>
              <a:rPr lang="en-US" dirty="0"/>
              <a:t>Improve onboarding</a:t>
            </a:r>
          </a:p>
          <a:p>
            <a:pPr lvl="2">
              <a:buFont typeface="Wingdings" pitchFamily="34" charset="0"/>
              <a:buChar char="§"/>
            </a:pPr>
            <a:r>
              <a:rPr lang="en-US" dirty="0"/>
              <a:t>Academic planning</a:t>
            </a:r>
          </a:p>
          <a:p>
            <a:pPr lvl="2">
              <a:buFont typeface="Wingdings" pitchFamily="34" charset="0"/>
              <a:buChar char="§"/>
            </a:pPr>
            <a:r>
              <a:rPr lang="en-US" dirty="0"/>
              <a:t>Campus engagement</a:t>
            </a:r>
          </a:p>
          <a:p>
            <a:pPr lvl="1">
              <a:buFont typeface="Courier New" pitchFamily="34" charset="0"/>
              <a:buChar char="o"/>
            </a:pPr>
            <a:r>
              <a:rPr lang="en-US" dirty="0"/>
              <a:t>Peer mentoring</a:t>
            </a:r>
          </a:p>
          <a:p>
            <a:pPr lvl="1">
              <a:buFont typeface="Courier New" pitchFamily="34" charset="0"/>
              <a:buChar char="o"/>
            </a:pPr>
            <a:r>
              <a:rPr lang="en-US" dirty="0"/>
              <a:t>Success Coaching</a:t>
            </a:r>
          </a:p>
        </p:txBody>
      </p:sp>
      <p:pic>
        <p:nvPicPr>
          <p:cNvPr id="1026" name="Picture 2" descr="What Is Student-Centered Coaching? | HMH">
            <a:extLst>
              <a:ext uri="{FF2B5EF4-FFF2-40B4-BE49-F238E27FC236}">
                <a16:creationId xmlns:a16="http://schemas.microsoft.com/office/drawing/2014/main" id="{5CC9340A-EB97-7BDE-62CD-C14084955D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4636" y="3615507"/>
            <a:ext cx="4467261" cy="2512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7191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04CEC-8DA8-9196-A006-F500236C48A2}"/>
              </a:ext>
            </a:extLst>
          </p:cNvPr>
          <p:cNvSpPr>
            <a:spLocks noGrp="1"/>
          </p:cNvSpPr>
          <p:nvPr>
            <p:ph type="title"/>
          </p:nvPr>
        </p:nvSpPr>
        <p:spPr>
          <a:xfrm>
            <a:off x="1221344" y="278605"/>
            <a:ext cx="10360501" cy="728663"/>
          </a:xfrm>
        </p:spPr>
        <p:txBody>
          <a:bodyPr>
            <a:normAutofit/>
          </a:bodyPr>
          <a:lstStyle/>
          <a:p>
            <a:r>
              <a:rPr lang="en-US" dirty="0"/>
              <a:t>Improving Major switching</a:t>
            </a:r>
          </a:p>
        </p:txBody>
      </p:sp>
      <p:sp>
        <p:nvSpPr>
          <p:cNvPr id="3" name="Content Placeholder 2">
            <a:extLst>
              <a:ext uri="{FF2B5EF4-FFF2-40B4-BE49-F238E27FC236}">
                <a16:creationId xmlns:a16="http://schemas.microsoft.com/office/drawing/2014/main" id="{FA2656F5-F310-FCA5-CBB8-C68528BCEC38}"/>
              </a:ext>
            </a:extLst>
          </p:cNvPr>
          <p:cNvSpPr>
            <a:spLocks noGrp="1"/>
          </p:cNvSpPr>
          <p:nvPr>
            <p:ph idx="1"/>
          </p:nvPr>
        </p:nvSpPr>
        <p:spPr>
          <a:xfrm>
            <a:off x="985601" y="2058897"/>
            <a:ext cx="2922031" cy="4470400"/>
          </a:xfrm>
        </p:spPr>
        <p:txBody>
          <a:bodyPr vert="horz" lIns="121899" tIns="60949" rIns="121899" bIns="60949" rtlCol="0" anchor="t">
            <a:normAutofit/>
          </a:bodyPr>
          <a:lstStyle/>
          <a:p>
            <a:pPr marL="0" indent="0">
              <a:buNone/>
            </a:pPr>
            <a:r>
              <a:rPr lang="en-US" sz="2400" dirty="0"/>
              <a:t>Students will leave their major often but stay at UofL</a:t>
            </a:r>
          </a:p>
          <a:p>
            <a:pPr marL="0" indent="0">
              <a:buNone/>
            </a:pPr>
            <a:r>
              <a:rPr lang="en-US" sz="2000" dirty="0"/>
              <a:t>Create smoother cross-unit transfers and improved advising for students interested in changing their majors</a:t>
            </a:r>
          </a:p>
          <a:p>
            <a:pPr marL="617220" lvl="1" indent="-342900">
              <a:buFont typeface="Courier New" pitchFamily="18" charset="0"/>
              <a:buChar char="o"/>
            </a:pPr>
            <a:endParaRPr lang="en-US" dirty="0"/>
          </a:p>
        </p:txBody>
      </p:sp>
      <p:sp>
        <p:nvSpPr>
          <p:cNvPr id="4" name="TextBox 3">
            <a:extLst>
              <a:ext uri="{FF2B5EF4-FFF2-40B4-BE49-F238E27FC236}">
                <a16:creationId xmlns:a16="http://schemas.microsoft.com/office/drawing/2014/main" id="{7DC299AA-05B3-0FBC-3A25-8D6674421005}"/>
              </a:ext>
            </a:extLst>
          </p:cNvPr>
          <p:cNvSpPr txBox="1"/>
          <p:nvPr/>
        </p:nvSpPr>
        <p:spPr>
          <a:xfrm>
            <a:off x="4576365" y="2213909"/>
            <a:ext cx="2536031" cy="1938992"/>
          </a:xfrm>
          <a:prstGeom prst="rect">
            <a:avLst/>
          </a:prstGeom>
          <a:noFill/>
          <a:ln>
            <a:noFill/>
          </a:ln>
        </p:spPr>
        <p:txBody>
          <a:bodyPr wrap="square" rtlCol="0" anchor="ctr" anchorCtr="1">
            <a:spAutoFit/>
          </a:bodyPr>
          <a:lstStyle/>
          <a:p>
            <a:r>
              <a:rPr lang="en-US" dirty="0"/>
              <a:t>Identify at risk programs and intervene before problems grow</a:t>
            </a:r>
          </a:p>
        </p:txBody>
      </p:sp>
      <p:sp>
        <p:nvSpPr>
          <p:cNvPr id="5" name="TextBox 4">
            <a:extLst>
              <a:ext uri="{FF2B5EF4-FFF2-40B4-BE49-F238E27FC236}">
                <a16:creationId xmlns:a16="http://schemas.microsoft.com/office/drawing/2014/main" id="{92A5C663-3399-8D5E-E4BF-06AE53EB900C}"/>
              </a:ext>
            </a:extLst>
          </p:cNvPr>
          <p:cNvSpPr txBox="1"/>
          <p:nvPr/>
        </p:nvSpPr>
        <p:spPr>
          <a:xfrm>
            <a:off x="7991078" y="2058897"/>
            <a:ext cx="3738962" cy="4431983"/>
          </a:xfrm>
          <a:prstGeom prst="rect">
            <a:avLst/>
          </a:prstGeom>
          <a:noFill/>
          <a:ln>
            <a:noFill/>
          </a:ln>
        </p:spPr>
        <p:txBody>
          <a:bodyPr wrap="square" rtlCol="0" anchor="ctr" anchorCtr="1">
            <a:spAutoFit/>
          </a:bodyPr>
          <a:lstStyle/>
          <a:p>
            <a:r>
              <a:rPr lang="en-US" dirty="0"/>
              <a:t>Learn from higher retention majors</a:t>
            </a:r>
          </a:p>
          <a:p>
            <a:endParaRPr lang="en-US" sz="1200" dirty="0"/>
          </a:p>
          <a:p>
            <a:r>
              <a:rPr lang="en-US" sz="1800" dirty="0"/>
              <a:t>Business, Music, and Engineering retain students the best</a:t>
            </a:r>
          </a:p>
          <a:p>
            <a:endParaRPr lang="en-US" sz="1800" dirty="0"/>
          </a:p>
          <a:p>
            <a:r>
              <a:rPr lang="en-US" sz="1800" dirty="0"/>
              <a:t>Identify what works for these programs and replicate those practices</a:t>
            </a:r>
          </a:p>
          <a:p>
            <a:endParaRPr lang="en-US" sz="1800" dirty="0"/>
          </a:p>
          <a:p>
            <a:r>
              <a:rPr lang="en-US" sz="1800" dirty="0"/>
              <a:t>Community building</a:t>
            </a:r>
          </a:p>
          <a:p>
            <a:r>
              <a:rPr lang="en-US" sz="1800" dirty="0"/>
              <a:t>Structured Curriculum</a:t>
            </a:r>
          </a:p>
          <a:p>
            <a:r>
              <a:rPr lang="en-US" sz="1800" dirty="0"/>
              <a:t>Replicate their advising models</a:t>
            </a:r>
          </a:p>
          <a:p>
            <a:pPr marL="274320" lvl="1"/>
            <a:r>
              <a:rPr lang="en-US" sz="1200" dirty="0"/>
              <a:t> </a:t>
            </a:r>
          </a:p>
          <a:p>
            <a:endParaRPr lang="en-US" sz="1200" dirty="0"/>
          </a:p>
        </p:txBody>
      </p:sp>
      <p:pic>
        <p:nvPicPr>
          <p:cNvPr id="7" name="Graphic 6" descr="Run with solid fill">
            <a:extLst>
              <a:ext uri="{FF2B5EF4-FFF2-40B4-BE49-F238E27FC236}">
                <a16:creationId xmlns:a16="http://schemas.microsoft.com/office/drawing/2014/main" id="{32567496-2CAC-6E49-7D34-FA5E8A5B127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01" y="1466524"/>
            <a:ext cx="914400" cy="914400"/>
          </a:xfrm>
          <a:prstGeom prst="rect">
            <a:avLst/>
          </a:prstGeom>
        </p:spPr>
      </p:pic>
      <p:pic>
        <p:nvPicPr>
          <p:cNvPr id="9" name="Graphic 8" descr="Bar graph with upward trend with solid fill">
            <a:extLst>
              <a:ext uri="{FF2B5EF4-FFF2-40B4-BE49-F238E27FC236}">
                <a16:creationId xmlns:a16="http://schemas.microsoft.com/office/drawing/2014/main" id="{CC5185A5-E145-7050-E1A2-46320884D54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94537" y="1443505"/>
            <a:ext cx="914400" cy="914400"/>
          </a:xfrm>
          <a:prstGeom prst="rect">
            <a:avLst/>
          </a:prstGeom>
        </p:spPr>
      </p:pic>
      <p:pic>
        <p:nvPicPr>
          <p:cNvPr id="11" name="Graphic 10" descr="Teacher with solid fill">
            <a:extLst>
              <a:ext uri="{FF2B5EF4-FFF2-40B4-BE49-F238E27FC236}">
                <a16:creationId xmlns:a16="http://schemas.microsoft.com/office/drawing/2014/main" id="{07A909EF-EA63-99F6-2224-91801F9FEA4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61965" y="1443505"/>
            <a:ext cx="914400" cy="914400"/>
          </a:xfrm>
          <a:prstGeom prst="rect">
            <a:avLst/>
          </a:prstGeom>
        </p:spPr>
      </p:pic>
    </p:spTree>
    <p:extLst>
      <p:ext uri="{BB962C8B-B14F-4D97-AF65-F5344CB8AC3E}">
        <p14:creationId xmlns:p14="http://schemas.microsoft.com/office/powerpoint/2010/main" val="2462249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acher assisting student">
            <a:extLst>
              <a:ext uri="{FF2B5EF4-FFF2-40B4-BE49-F238E27FC236}">
                <a16:creationId xmlns:a16="http://schemas.microsoft.com/office/drawing/2014/main" id="{C15AE053-C774-AB74-B36B-E76D296492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72412" y="2445932"/>
            <a:ext cx="4322156" cy="3169510"/>
          </a:xfrm>
          <a:prstGeom prst="rect">
            <a:avLst/>
          </a:prstGeom>
        </p:spPr>
      </p:pic>
      <p:sp>
        <p:nvSpPr>
          <p:cNvPr id="2" name="Title 1">
            <a:extLst>
              <a:ext uri="{FF2B5EF4-FFF2-40B4-BE49-F238E27FC236}">
                <a16:creationId xmlns:a16="http://schemas.microsoft.com/office/drawing/2014/main" id="{4E6AAE50-DF9E-08C7-23C8-42A7F24D877A}"/>
              </a:ext>
            </a:extLst>
          </p:cNvPr>
          <p:cNvSpPr>
            <a:spLocks noGrp="1"/>
          </p:cNvSpPr>
          <p:nvPr>
            <p:ph type="title"/>
          </p:nvPr>
        </p:nvSpPr>
        <p:spPr/>
        <p:txBody>
          <a:bodyPr/>
          <a:lstStyle/>
          <a:p>
            <a:r>
              <a:rPr lang="en-US"/>
              <a:t>Summary</a:t>
            </a:r>
          </a:p>
        </p:txBody>
      </p:sp>
      <p:sp>
        <p:nvSpPr>
          <p:cNvPr id="3" name="Content Placeholder 2">
            <a:extLst>
              <a:ext uri="{FF2B5EF4-FFF2-40B4-BE49-F238E27FC236}">
                <a16:creationId xmlns:a16="http://schemas.microsoft.com/office/drawing/2014/main" id="{0AC25D89-FE56-FD43-F25B-A5B4F5C147E4}"/>
              </a:ext>
            </a:extLst>
          </p:cNvPr>
          <p:cNvSpPr>
            <a:spLocks noGrp="1"/>
          </p:cNvSpPr>
          <p:nvPr>
            <p:ph idx="1"/>
          </p:nvPr>
        </p:nvSpPr>
        <p:spPr>
          <a:xfrm>
            <a:off x="914163" y="1803401"/>
            <a:ext cx="6777493" cy="4470400"/>
          </a:xfrm>
        </p:spPr>
        <p:txBody>
          <a:bodyPr vert="horz" lIns="121899" tIns="60949" rIns="121899" bIns="60949" rtlCol="0" anchor="t">
            <a:normAutofit/>
          </a:bodyPr>
          <a:lstStyle/>
          <a:p>
            <a:r>
              <a:rPr lang="en-US"/>
              <a:t>Student retention is </a:t>
            </a:r>
            <a:r>
              <a:rPr lang="en-US" u="sng"/>
              <a:t>IMPORTANT</a:t>
            </a:r>
            <a:r>
              <a:rPr lang="en-US"/>
              <a:t>!</a:t>
            </a:r>
          </a:p>
          <a:p>
            <a:r>
              <a:rPr lang="en-US"/>
              <a:t>Putting student's needs first will benefit them AND the University.</a:t>
            </a:r>
          </a:p>
          <a:p>
            <a:r>
              <a:rPr lang="en-US"/>
              <a:t>While students leave the university/majors for various reasons the university can help by...</a:t>
            </a:r>
          </a:p>
          <a:p>
            <a:pPr lvl="3">
              <a:buFont typeface="Arial" pitchFamily="34" charset="0"/>
              <a:buChar char="•"/>
            </a:pPr>
            <a:r>
              <a:rPr lang="en-US"/>
              <a:t>Providing early academic support in at risk units.</a:t>
            </a:r>
          </a:p>
          <a:p>
            <a:pPr lvl="3">
              <a:buFont typeface="Arial" pitchFamily="34" charset="0"/>
              <a:buChar char="•"/>
            </a:pPr>
            <a:r>
              <a:rPr lang="en-US"/>
              <a:t>Helping students in large cohorts feel integrated.</a:t>
            </a:r>
          </a:p>
          <a:p>
            <a:pPr lvl="3">
              <a:buFont typeface="Arial" pitchFamily="34" charset="0"/>
              <a:buChar char="•"/>
            </a:pPr>
            <a:r>
              <a:rPr lang="en-US"/>
              <a:t>Creating smoother transitions.</a:t>
            </a:r>
          </a:p>
          <a:p>
            <a:pPr lvl="3">
              <a:buFont typeface="Arial" pitchFamily="34" charset="0"/>
              <a:buChar char="•"/>
            </a:pPr>
            <a:r>
              <a:rPr lang="en-US"/>
              <a:t>Learning from high retention areas.</a:t>
            </a:r>
          </a:p>
          <a:p>
            <a:pPr lvl="3">
              <a:buFont typeface="Arial" pitchFamily="34" charset="0"/>
              <a:buChar char="•"/>
            </a:pPr>
            <a:endParaRPr lang="en-US"/>
          </a:p>
          <a:p>
            <a:pPr lvl="3">
              <a:buFont typeface="Arial" pitchFamily="34" charset="0"/>
              <a:buChar char="•"/>
            </a:pPr>
            <a:endParaRPr lang="en-US"/>
          </a:p>
          <a:p>
            <a:pPr lvl="3">
              <a:buFont typeface="Arial" pitchFamily="34" charset="0"/>
              <a:buChar char="•"/>
            </a:pPr>
            <a:endParaRPr lang="en-US"/>
          </a:p>
          <a:p>
            <a:pPr lvl="3">
              <a:buFont typeface="Arial" pitchFamily="34" charset="0"/>
              <a:buChar char="•"/>
            </a:pPr>
            <a:endParaRPr lang="en-US"/>
          </a:p>
          <a:p>
            <a:pPr lvl="3">
              <a:buFont typeface="Arial" pitchFamily="34" charset="0"/>
              <a:buChar char="•"/>
            </a:pPr>
            <a:endParaRPr lang="en-US"/>
          </a:p>
          <a:p>
            <a:pPr lvl="3">
              <a:buFont typeface="Cambria" pitchFamily="18" charset="0"/>
              <a:buChar char="•"/>
            </a:pPr>
            <a:endParaRPr lang="en-US"/>
          </a:p>
          <a:p>
            <a:pPr lvl="2">
              <a:buFont typeface="Calibri" pitchFamily="34" charset="0"/>
              <a:buChar char="-"/>
            </a:pPr>
            <a:endParaRPr lang="en-US"/>
          </a:p>
        </p:txBody>
      </p:sp>
      <p:pic>
        <p:nvPicPr>
          <p:cNvPr id="7" name="Graphic 6" descr="Star outline">
            <a:extLst>
              <a:ext uri="{FF2B5EF4-FFF2-40B4-BE49-F238E27FC236}">
                <a16:creationId xmlns:a16="http://schemas.microsoft.com/office/drawing/2014/main" id="{A85FC407-75C0-AD51-3DDD-8A82304FF78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1682" y="182387"/>
            <a:ext cx="914445" cy="914400"/>
          </a:xfrm>
          <a:prstGeom prst="rect">
            <a:avLst/>
          </a:prstGeom>
        </p:spPr>
      </p:pic>
    </p:spTree>
    <p:extLst>
      <p:ext uri="{BB962C8B-B14F-4D97-AF65-F5344CB8AC3E}">
        <p14:creationId xmlns:p14="http://schemas.microsoft.com/office/powerpoint/2010/main" val="381524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rimson landscape design temp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gradFill rotWithShape="1">
          <a:gsLst>
            <a:gs pos="0">
              <a:schemeClr val="phClr">
                <a:tint val="100000"/>
                <a:shade val="80000"/>
                <a:satMod val="100000"/>
              </a:schemeClr>
            </a:gs>
            <a:gs pos="65000">
              <a:schemeClr val="phClr">
                <a:tint val="100000"/>
                <a:shade val="40000"/>
                <a:satMod val="100000"/>
              </a:schemeClr>
            </a:gs>
            <a:gs pos="100000">
              <a:schemeClr val="phClr">
                <a:shade val="5000"/>
                <a:satMod val="100000"/>
              </a:schemeClr>
            </a:gs>
          </a:gsLst>
          <a:path path="circle">
            <a:fillToRect l="25000" t="25000" r="25000" b="25000"/>
          </a:path>
        </a:gradFill>
        <a:gradFill flip="none" rotWithShape="1">
          <a:gsLst>
            <a:gs pos="17000">
              <a:schemeClr val="phClr"/>
            </a:gs>
            <a:gs pos="71000">
              <a:schemeClr val="phClr">
                <a:tint val="100000"/>
                <a:shade val="40000"/>
                <a:satMod val="100000"/>
              </a:schemeClr>
            </a:gs>
            <a:gs pos="100000">
              <a:schemeClr val="phClr">
                <a:shade val="5000"/>
                <a:satMod val="100000"/>
              </a:schemeClr>
            </a:gs>
          </a:gsLst>
          <a:path path="circle">
            <a:fillToRect l="50000" t="50000" r="50000" b="50000"/>
          </a:path>
          <a:tileRect/>
        </a:gradFill>
      </a:bgFillStyleLst>
    </a:fmtScheme>
  </a:themeElements>
  <a:objectDefaults>
    <a:spDef>
      <a:spPr>
        <a:ln>
          <a:noFill/>
        </a:ln>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ln w="190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F03460512.potx" id="{FAD57A1D-FD3F-410E-BC16-DC0572F34EA3}" vid="{8B1535A0-4296-40FA-BB7E-C6BB75A63359}"/>
    </a:ext>
  </a:extLst>
</a:theme>
</file>

<file path=ppt/theme/theme2.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23EF220A161D74B81A2A1C159CC3230" ma:contentTypeVersion="5" ma:contentTypeDescription="Create a new document." ma:contentTypeScope="" ma:versionID="3ba4d3d88399591a8955096f438b78af">
  <xsd:schema xmlns:xsd="http://www.w3.org/2001/XMLSchema" xmlns:xs="http://www.w3.org/2001/XMLSchema" xmlns:p="http://schemas.microsoft.com/office/2006/metadata/properties" xmlns:ns3="15d5c38c-65b3-437c-8706-0cdc49666ab8" targetNamespace="http://schemas.microsoft.com/office/2006/metadata/properties" ma:root="true" ma:fieldsID="7e3b5d7ec6ddbf575a02cee13509a185" ns3:_="">
    <xsd:import namespace="15d5c38c-65b3-437c-8706-0cdc49666ab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5c38c-65b3-437c-8706-0cdc49666ab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5d5c38c-65b3-437c-8706-0cdc49666ab8" xsi:nil="true"/>
  </documentManagement>
</p:properties>
</file>

<file path=customXml/itemProps1.xml><?xml version="1.0" encoding="utf-8"?>
<ds:datastoreItem xmlns:ds="http://schemas.openxmlformats.org/officeDocument/2006/customXml" ds:itemID="{D3BAFD01-01AB-4340-B1BB-2D5AB780C2FC}">
  <ds:schemaRefs>
    <ds:schemaRef ds:uri="15d5c38c-65b3-437c-8706-0cdc49666ab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18D67F8-315E-4362-BCB0-89A38550AD92}">
  <ds:schemaRefs>
    <ds:schemaRef ds:uri="http://schemas.microsoft.com/sharepoint/v3/contenttype/forms"/>
  </ds:schemaRefs>
</ds:datastoreItem>
</file>

<file path=customXml/itemProps3.xml><?xml version="1.0" encoding="utf-8"?>
<ds:datastoreItem xmlns:ds="http://schemas.openxmlformats.org/officeDocument/2006/customXml" ds:itemID="{55406BB7-6BBC-4D9C-9EFF-E00973FD9A84}">
  <ds:schemaRefs>
    <ds:schemaRef ds:uri="http://purl.org/dc/terms/"/>
    <ds:schemaRef ds:uri="http://schemas.microsoft.com/office/2006/metadata/properties"/>
    <ds:schemaRef ds:uri="http://schemas.microsoft.com/office/2006/documentManagement/types"/>
    <ds:schemaRef ds:uri="http://purl.org/dc/elements/1.1/"/>
    <ds:schemaRef ds:uri="15d5c38c-65b3-437c-8706-0cdc49666ab8"/>
    <ds:schemaRef ds:uri="http://purl.org/dc/dcmitype/"/>
    <ds:schemaRef ds:uri="http://www.w3.org/XML/1998/namespace"/>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Crimson landscape design slides</Template>
  <TotalTime>0</TotalTime>
  <Words>1055</Words>
  <Application>Microsoft Office PowerPoint</Application>
  <PresentationFormat>Custom</PresentationFormat>
  <Paragraphs>125</Paragraphs>
  <Slides>13</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Cambria</vt:lpstr>
      <vt:lpstr>Century Gothic</vt:lpstr>
      <vt:lpstr>Courier New</vt:lpstr>
      <vt:lpstr>Wingdings</vt:lpstr>
      <vt:lpstr>Crimson landscape design template</vt:lpstr>
      <vt:lpstr>First Year Students Are Leaving UofL from Some Majors More Than Others</vt:lpstr>
      <vt:lpstr>Overview</vt:lpstr>
      <vt:lpstr>Did you know...</vt:lpstr>
      <vt:lpstr>PowerPoint Presentation</vt:lpstr>
      <vt:lpstr>Why retention matters?</vt:lpstr>
      <vt:lpstr>Full retention landscape</vt:lpstr>
      <vt:lpstr>When students stay, money stays</vt:lpstr>
      <vt:lpstr>PowerPoint Presentation</vt:lpstr>
      <vt:lpstr>PowerPoint Presentation</vt:lpstr>
      <vt:lpstr>Recommendations: support</vt:lpstr>
      <vt:lpstr>Recommendations: large cohorts</vt:lpstr>
      <vt:lpstr>Improving Major switching</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Goss, Spencer</dc:creator>
  <cp:lastModifiedBy>Pachini, Miranda</cp:lastModifiedBy>
  <cp:revision>2</cp:revision>
  <dcterms:created xsi:type="dcterms:W3CDTF">2026-02-03T00:10:01Z</dcterms:created>
  <dcterms:modified xsi:type="dcterms:W3CDTF">2026-02-04T22:55:17Z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0x010100723EF220A161D74B81A2A1C159CC3230</vt:lpwstr>
  </property>
</Properties>
</file>